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DM Sans Bold" charset="1" panose="00000000000000000000"/>
      <p:regular r:id="rId20"/>
    </p:embeddedFont>
    <p:embeddedFont>
      <p:font typeface="DM Sans" charset="1" panose="00000000000000000000"/>
      <p:regular r:id="rId21"/>
    </p:embeddedFont>
    <p:embeddedFont>
      <p:font typeface="Garet Bold" charset="1" panose="00000000000000000000"/>
      <p:regular r:id="rId22"/>
    </p:embeddedFont>
    <p:embeddedFont>
      <p:font typeface="Open Sans Bold" charset="1" panose="00000000000000000000"/>
      <p:regular r:id="rId23"/>
    </p:embeddedFont>
    <p:embeddedFont>
      <p:font typeface="Open Sans" charset="1" panose="00000000000000000000"/>
      <p:regular r:id="rId24"/>
    </p:embeddedFont>
    <p:embeddedFont>
      <p:font typeface="Aileron Bold" charset="1" panose="00000800000000000000"/>
      <p:regular r:id="rId25"/>
    </p:embeddedFont>
    <p:embeddedFont>
      <p:font typeface="Aileron" charset="1" panose="000005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2" Target="../media/image21.pn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Relationship Id="rId5" Target="../media/image24.png" Type="http://schemas.openxmlformats.org/officeDocument/2006/relationships/image"/><Relationship Id="rId6" Target="../media/image25.svg" Type="http://schemas.openxmlformats.org/officeDocument/2006/relationships/image"/><Relationship Id="rId7" Target="../media/image26.png" Type="http://schemas.openxmlformats.org/officeDocument/2006/relationships/image"/><Relationship Id="rId8" Target="../media/image27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svg" Type="http://schemas.openxmlformats.org/officeDocument/2006/relationships/image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svg" Type="http://schemas.openxmlformats.org/officeDocument/2006/relationships/image"/><Relationship Id="rId12" Target="../media/image50.png" Type="http://schemas.openxmlformats.org/officeDocument/2006/relationships/image"/><Relationship Id="rId13" Target="../media/image51.svg" Type="http://schemas.openxmlformats.org/officeDocument/2006/relationships/image"/><Relationship Id="rId14" Target="../media/image52.png" Type="http://schemas.openxmlformats.org/officeDocument/2006/relationships/image"/><Relationship Id="rId15" Target="../media/image53.svg" Type="http://schemas.openxmlformats.org/officeDocument/2006/relationships/image"/><Relationship Id="rId16" Target="../media/image17.png" Type="http://schemas.openxmlformats.org/officeDocument/2006/relationships/image"/><Relationship Id="rId17" Target="../media/image18.svg" Type="http://schemas.openxmlformats.org/officeDocument/2006/relationships/image"/><Relationship Id="rId18" Target="../media/image54.png" Type="http://schemas.openxmlformats.org/officeDocument/2006/relationships/image"/><Relationship Id="rId19" Target="../media/image55.svg" Type="http://schemas.openxmlformats.org/officeDocument/2006/relationships/image"/><Relationship Id="rId2" Target="../media/image40.png" Type="http://schemas.openxmlformats.org/officeDocument/2006/relationships/image"/><Relationship Id="rId20" Target="../media/image56.png" Type="http://schemas.openxmlformats.org/officeDocument/2006/relationships/image"/><Relationship Id="rId21" Target="../media/image57.svg" Type="http://schemas.openxmlformats.org/officeDocument/2006/relationships/image"/><Relationship Id="rId3" Target="../media/image41.svg" Type="http://schemas.openxmlformats.org/officeDocument/2006/relationships/image"/><Relationship Id="rId4" Target="../media/image42.png" Type="http://schemas.openxmlformats.org/officeDocument/2006/relationships/image"/><Relationship Id="rId5" Target="../media/image43.svg" Type="http://schemas.openxmlformats.org/officeDocument/2006/relationships/image"/><Relationship Id="rId6" Target="../media/image44.png" Type="http://schemas.openxmlformats.org/officeDocument/2006/relationships/image"/><Relationship Id="rId7" Target="../media/image45.svg" Type="http://schemas.openxmlformats.org/officeDocument/2006/relationships/image"/><Relationship Id="rId8" Target="../media/image46.png" Type="http://schemas.openxmlformats.org/officeDocument/2006/relationships/image"/><Relationship Id="rId9" Target="../media/image4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svg" Type="http://schemas.openxmlformats.org/officeDocument/2006/relationships/image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60.pn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61.png" Type="http://schemas.openxmlformats.org/officeDocument/2006/relationships/image"/><Relationship Id="rId8" Target="../media/image62.sv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3.png" Type="http://schemas.openxmlformats.org/officeDocument/2006/relationships/image"/><Relationship Id="rId11" Target="../media/image74.svg" Type="http://schemas.openxmlformats.org/officeDocument/2006/relationships/image"/><Relationship Id="rId12" Target="../media/image75.png" Type="http://schemas.openxmlformats.org/officeDocument/2006/relationships/image"/><Relationship Id="rId13" Target="../media/image76.svg" Type="http://schemas.openxmlformats.org/officeDocument/2006/relationships/image"/><Relationship Id="rId2" Target="../media/image65.png" Type="http://schemas.openxmlformats.org/officeDocument/2006/relationships/image"/><Relationship Id="rId3" Target="../media/image66.svg" Type="http://schemas.openxmlformats.org/officeDocument/2006/relationships/image"/><Relationship Id="rId4" Target="../media/image67.png" Type="http://schemas.openxmlformats.org/officeDocument/2006/relationships/image"/><Relationship Id="rId5" Target="../media/image68.svg" Type="http://schemas.openxmlformats.org/officeDocument/2006/relationships/image"/><Relationship Id="rId6" Target="../media/image69.png" Type="http://schemas.openxmlformats.org/officeDocument/2006/relationships/image"/><Relationship Id="rId7" Target="../media/image70.svg" Type="http://schemas.openxmlformats.org/officeDocument/2006/relationships/image"/><Relationship Id="rId8" Target="../media/image71.png" Type="http://schemas.openxmlformats.org/officeDocument/2006/relationships/image"/><Relationship Id="rId9" Target="../media/image7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5.png" Type="http://schemas.openxmlformats.org/officeDocument/2006/relationships/image"/><Relationship Id="rId11" Target="../media/image86.svg" Type="http://schemas.openxmlformats.org/officeDocument/2006/relationships/image"/><Relationship Id="rId2" Target="../media/image77.png" Type="http://schemas.openxmlformats.org/officeDocument/2006/relationships/image"/><Relationship Id="rId3" Target="../media/image78.svg" Type="http://schemas.openxmlformats.org/officeDocument/2006/relationships/image"/><Relationship Id="rId4" Target="../media/image79.png" Type="http://schemas.openxmlformats.org/officeDocument/2006/relationships/image"/><Relationship Id="rId5" Target="../media/image80.svg" Type="http://schemas.openxmlformats.org/officeDocument/2006/relationships/image"/><Relationship Id="rId6" Target="../media/image81.png" Type="http://schemas.openxmlformats.org/officeDocument/2006/relationships/image"/><Relationship Id="rId7" Target="../media/image82.svg" Type="http://schemas.openxmlformats.org/officeDocument/2006/relationships/image"/><Relationship Id="rId8" Target="../media/image83.png" Type="http://schemas.openxmlformats.org/officeDocument/2006/relationships/image"/><Relationship Id="rId9" Target="../media/image8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5.png" Type="http://schemas.openxmlformats.org/officeDocument/2006/relationships/image"/><Relationship Id="rId11" Target="../media/image96.svg" Type="http://schemas.openxmlformats.org/officeDocument/2006/relationships/image"/><Relationship Id="rId12" Target="../media/image97.png" Type="http://schemas.openxmlformats.org/officeDocument/2006/relationships/image"/><Relationship Id="rId13" Target="../media/image98.svg" Type="http://schemas.openxmlformats.org/officeDocument/2006/relationships/image"/><Relationship Id="rId14" Target="../media/image99.png" Type="http://schemas.openxmlformats.org/officeDocument/2006/relationships/image"/><Relationship Id="rId15" Target="../media/image100.svg" Type="http://schemas.openxmlformats.org/officeDocument/2006/relationships/image"/><Relationship Id="rId16" Target="../media/image101.png" Type="http://schemas.openxmlformats.org/officeDocument/2006/relationships/image"/><Relationship Id="rId17" Target="../media/image102.svg" Type="http://schemas.openxmlformats.org/officeDocument/2006/relationships/image"/><Relationship Id="rId18" Target="../media/image103.png" Type="http://schemas.openxmlformats.org/officeDocument/2006/relationships/image"/><Relationship Id="rId19" Target="../media/image104.svg" Type="http://schemas.openxmlformats.org/officeDocument/2006/relationships/image"/><Relationship Id="rId2" Target="../media/image87.png" Type="http://schemas.openxmlformats.org/officeDocument/2006/relationships/image"/><Relationship Id="rId20" Target="../media/image105.png" Type="http://schemas.openxmlformats.org/officeDocument/2006/relationships/image"/><Relationship Id="rId21" Target="../media/image106.svg" Type="http://schemas.openxmlformats.org/officeDocument/2006/relationships/image"/><Relationship Id="rId3" Target="../media/image88.svg" Type="http://schemas.openxmlformats.org/officeDocument/2006/relationships/image"/><Relationship Id="rId4" Target="../media/image89.png" Type="http://schemas.openxmlformats.org/officeDocument/2006/relationships/image"/><Relationship Id="rId5" Target="../media/image90.svg" Type="http://schemas.openxmlformats.org/officeDocument/2006/relationships/image"/><Relationship Id="rId6" Target="../media/image91.png" Type="http://schemas.openxmlformats.org/officeDocument/2006/relationships/image"/><Relationship Id="rId7" Target="../media/image92.svg" Type="http://schemas.openxmlformats.org/officeDocument/2006/relationships/image"/><Relationship Id="rId8" Target="../media/image93.png" Type="http://schemas.openxmlformats.org/officeDocument/2006/relationships/image"/><Relationship Id="rId9" Target="../media/image9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5.png" Type="http://schemas.openxmlformats.org/officeDocument/2006/relationships/image"/><Relationship Id="rId11" Target="../media/image116.svg" Type="http://schemas.openxmlformats.org/officeDocument/2006/relationships/image"/><Relationship Id="rId2" Target="../media/image107.png" Type="http://schemas.openxmlformats.org/officeDocument/2006/relationships/image"/><Relationship Id="rId3" Target="../media/image108.svg" Type="http://schemas.openxmlformats.org/officeDocument/2006/relationships/image"/><Relationship Id="rId4" Target="../media/image109.png" Type="http://schemas.openxmlformats.org/officeDocument/2006/relationships/image"/><Relationship Id="rId5" Target="../media/image110.svg" Type="http://schemas.openxmlformats.org/officeDocument/2006/relationships/image"/><Relationship Id="rId6" Target="../media/image111.png" Type="http://schemas.openxmlformats.org/officeDocument/2006/relationships/image"/><Relationship Id="rId7" Target="../media/image112.svg" Type="http://schemas.openxmlformats.org/officeDocument/2006/relationships/image"/><Relationship Id="rId8" Target="../media/image113.png" Type="http://schemas.openxmlformats.org/officeDocument/2006/relationships/image"/><Relationship Id="rId9" Target="../media/image11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5.png" Type="http://schemas.openxmlformats.org/officeDocument/2006/relationships/image"/><Relationship Id="rId11" Target="../media/image126.svg" Type="http://schemas.openxmlformats.org/officeDocument/2006/relationships/image"/><Relationship Id="rId12" Target="../media/image127.png" Type="http://schemas.openxmlformats.org/officeDocument/2006/relationships/image"/><Relationship Id="rId13" Target="../media/image128.svg" Type="http://schemas.openxmlformats.org/officeDocument/2006/relationships/image"/><Relationship Id="rId2" Target="../media/image117.png" Type="http://schemas.openxmlformats.org/officeDocument/2006/relationships/image"/><Relationship Id="rId3" Target="../media/image118.svg" Type="http://schemas.openxmlformats.org/officeDocument/2006/relationships/image"/><Relationship Id="rId4" Target="../media/image119.png" Type="http://schemas.openxmlformats.org/officeDocument/2006/relationships/image"/><Relationship Id="rId5" Target="../media/image120.svg" Type="http://schemas.openxmlformats.org/officeDocument/2006/relationships/image"/><Relationship Id="rId6" Target="../media/image121.png" Type="http://schemas.openxmlformats.org/officeDocument/2006/relationships/image"/><Relationship Id="rId7" Target="../media/image122.svg" Type="http://schemas.openxmlformats.org/officeDocument/2006/relationships/image"/><Relationship Id="rId8" Target="../media/image123.png" Type="http://schemas.openxmlformats.org/officeDocument/2006/relationships/image"/><Relationship Id="rId9" Target="../media/image12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7.png" Type="http://schemas.openxmlformats.org/officeDocument/2006/relationships/image"/><Relationship Id="rId11" Target="../media/image138.svg" Type="http://schemas.openxmlformats.org/officeDocument/2006/relationships/image"/><Relationship Id="rId2" Target="../media/image129.png" Type="http://schemas.openxmlformats.org/officeDocument/2006/relationships/image"/><Relationship Id="rId3" Target="../media/image130.png" Type="http://schemas.openxmlformats.org/officeDocument/2006/relationships/image"/><Relationship Id="rId4" Target="../media/image131.png" Type="http://schemas.openxmlformats.org/officeDocument/2006/relationships/image"/><Relationship Id="rId5" Target="../media/image132.svg" Type="http://schemas.openxmlformats.org/officeDocument/2006/relationships/image"/><Relationship Id="rId6" Target="../media/image133.png" Type="http://schemas.openxmlformats.org/officeDocument/2006/relationships/image"/><Relationship Id="rId7" Target="../media/image134.svg" Type="http://schemas.openxmlformats.org/officeDocument/2006/relationships/image"/><Relationship Id="rId8" Target="../media/image135.png" Type="http://schemas.openxmlformats.org/officeDocument/2006/relationships/image"/><Relationship Id="rId9" Target="../media/image13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223649" y="4832209"/>
            <a:ext cx="5278478" cy="2146581"/>
          </a:xfrm>
          <a:custGeom>
            <a:avLst/>
            <a:gdLst/>
            <a:ahLst/>
            <a:cxnLst/>
            <a:rect r="r" b="b" t="t" l="l"/>
            <a:pathLst>
              <a:path h="2146581" w="5278478">
                <a:moveTo>
                  <a:pt x="0" y="0"/>
                </a:moveTo>
                <a:lnTo>
                  <a:pt x="5278478" y="0"/>
                </a:lnTo>
                <a:lnTo>
                  <a:pt x="5278478" y="2146582"/>
                </a:lnTo>
                <a:lnTo>
                  <a:pt x="0" y="21465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906190" y="4832209"/>
            <a:ext cx="5278478" cy="2146581"/>
          </a:xfrm>
          <a:custGeom>
            <a:avLst/>
            <a:gdLst/>
            <a:ahLst/>
            <a:cxnLst/>
            <a:rect r="r" b="b" t="t" l="l"/>
            <a:pathLst>
              <a:path h="2146581" w="5278478">
                <a:moveTo>
                  <a:pt x="0" y="0"/>
                </a:moveTo>
                <a:lnTo>
                  <a:pt x="5278478" y="0"/>
                </a:lnTo>
                <a:lnTo>
                  <a:pt x="5278478" y="2146582"/>
                </a:lnTo>
                <a:lnTo>
                  <a:pt x="0" y="21465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" id="4"/>
          <p:cNvGrpSpPr/>
          <p:nvPr/>
        </p:nvGrpSpPr>
        <p:grpSpPr>
          <a:xfrm rot="0">
            <a:off x="1804694" y="4163129"/>
            <a:ext cx="2382155" cy="3766164"/>
            <a:chOff x="0" y="0"/>
            <a:chExt cx="640215" cy="10121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0215" cy="1012174"/>
            </a:xfrm>
            <a:custGeom>
              <a:avLst/>
              <a:gdLst/>
              <a:ahLst/>
              <a:cxnLst/>
              <a:rect r="r" b="b" t="t" l="l"/>
              <a:pathLst>
                <a:path h="1012174" w="640215">
                  <a:moveTo>
                    <a:pt x="64999" y="0"/>
                  </a:moveTo>
                  <a:lnTo>
                    <a:pt x="575216" y="0"/>
                  </a:lnTo>
                  <a:cubicBezTo>
                    <a:pt x="611114" y="0"/>
                    <a:pt x="640215" y="29101"/>
                    <a:pt x="640215" y="64999"/>
                  </a:cubicBezTo>
                  <a:lnTo>
                    <a:pt x="640215" y="947174"/>
                  </a:lnTo>
                  <a:cubicBezTo>
                    <a:pt x="640215" y="983072"/>
                    <a:pt x="611114" y="1012174"/>
                    <a:pt x="575216" y="1012174"/>
                  </a:cubicBezTo>
                  <a:lnTo>
                    <a:pt x="64999" y="1012174"/>
                  </a:lnTo>
                  <a:cubicBezTo>
                    <a:pt x="29101" y="1012174"/>
                    <a:pt x="0" y="983072"/>
                    <a:pt x="0" y="947174"/>
                  </a:cubicBezTo>
                  <a:lnTo>
                    <a:pt x="0" y="64999"/>
                  </a:lnTo>
                  <a:cubicBezTo>
                    <a:pt x="0" y="29101"/>
                    <a:pt x="29101" y="0"/>
                    <a:pt x="649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40215" cy="1050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967061" y="4163129"/>
            <a:ext cx="2382155" cy="3766164"/>
            <a:chOff x="0" y="0"/>
            <a:chExt cx="640215" cy="10121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215" cy="1012174"/>
            </a:xfrm>
            <a:custGeom>
              <a:avLst/>
              <a:gdLst/>
              <a:ahLst/>
              <a:cxnLst/>
              <a:rect r="r" b="b" t="t" l="l"/>
              <a:pathLst>
                <a:path h="1012174" w="640215">
                  <a:moveTo>
                    <a:pt x="64999" y="0"/>
                  </a:moveTo>
                  <a:lnTo>
                    <a:pt x="575216" y="0"/>
                  </a:lnTo>
                  <a:cubicBezTo>
                    <a:pt x="611114" y="0"/>
                    <a:pt x="640215" y="29101"/>
                    <a:pt x="640215" y="64999"/>
                  </a:cubicBezTo>
                  <a:lnTo>
                    <a:pt x="640215" y="947174"/>
                  </a:lnTo>
                  <a:cubicBezTo>
                    <a:pt x="640215" y="983072"/>
                    <a:pt x="611114" y="1012174"/>
                    <a:pt x="575216" y="1012174"/>
                  </a:cubicBezTo>
                  <a:lnTo>
                    <a:pt x="64999" y="1012174"/>
                  </a:lnTo>
                  <a:cubicBezTo>
                    <a:pt x="29101" y="1012174"/>
                    <a:pt x="0" y="983072"/>
                    <a:pt x="0" y="947174"/>
                  </a:cubicBezTo>
                  <a:lnTo>
                    <a:pt x="0" y="64999"/>
                  </a:lnTo>
                  <a:cubicBezTo>
                    <a:pt x="0" y="29101"/>
                    <a:pt x="29101" y="0"/>
                    <a:pt x="649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40215" cy="1050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5400000">
            <a:off x="6036029" y="4832209"/>
            <a:ext cx="5278478" cy="2146581"/>
          </a:xfrm>
          <a:custGeom>
            <a:avLst/>
            <a:gdLst/>
            <a:ahLst/>
            <a:cxnLst/>
            <a:rect r="r" b="b" t="t" l="l"/>
            <a:pathLst>
              <a:path h="2146581" w="5278478">
                <a:moveTo>
                  <a:pt x="0" y="0"/>
                </a:moveTo>
                <a:lnTo>
                  <a:pt x="5278478" y="0"/>
                </a:lnTo>
                <a:lnTo>
                  <a:pt x="5278478" y="2146582"/>
                </a:lnTo>
                <a:lnTo>
                  <a:pt x="0" y="21465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1" id="11"/>
          <p:cNvSpPr/>
          <p:nvPr/>
        </p:nvSpPr>
        <p:spPr>
          <a:xfrm flipH="false" flipV="false" rot="-5400000">
            <a:off x="9165868" y="4832209"/>
            <a:ext cx="5278478" cy="2146581"/>
          </a:xfrm>
          <a:custGeom>
            <a:avLst/>
            <a:gdLst/>
            <a:ahLst/>
            <a:cxnLst/>
            <a:rect r="r" b="b" t="t" l="l"/>
            <a:pathLst>
              <a:path h="2146581" w="5278478">
                <a:moveTo>
                  <a:pt x="0" y="0"/>
                </a:moveTo>
                <a:lnTo>
                  <a:pt x="5278478" y="0"/>
                </a:lnTo>
                <a:lnTo>
                  <a:pt x="5278478" y="2146582"/>
                </a:lnTo>
                <a:lnTo>
                  <a:pt x="0" y="21465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-5400000">
            <a:off x="12295708" y="4832209"/>
            <a:ext cx="5278478" cy="2146581"/>
          </a:xfrm>
          <a:custGeom>
            <a:avLst/>
            <a:gdLst/>
            <a:ahLst/>
            <a:cxnLst/>
            <a:rect r="r" b="b" t="t" l="l"/>
            <a:pathLst>
              <a:path h="2146581" w="5278478">
                <a:moveTo>
                  <a:pt x="0" y="0"/>
                </a:moveTo>
                <a:lnTo>
                  <a:pt x="5278478" y="0"/>
                </a:lnTo>
                <a:lnTo>
                  <a:pt x="5278478" y="2146582"/>
                </a:lnTo>
                <a:lnTo>
                  <a:pt x="0" y="21465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13" id="13"/>
          <p:cNvGrpSpPr/>
          <p:nvPr/>
        </p:nvGrpSpPr>
        <p:grpSpPr>
          <a:xfrm rot="0">
            <a:off x="8129429" y="4163129"/>
            <a:ext cx="2382155" cy="3766164"/>
            <a:chOff x="0" y="0"/>
            <a:chExt cx="640215" cy="101217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0215" cy="1012174"/>
            </a:xfrm>
            <a:custGeom>
              <a:avLst/>
              <a:gdLst/>
              <a:ahLst/>
              <a:cxnLst/>
              <a:rect r="r" b="b" t="t" l="l"/>
              <a:pathLst>
                <a:path h="1012174" w="640215">
                  <a:moveTo>
                    <a:pt x="64999" y="0"/>
                  </a:moveTo>
                  <a:lnTo>
                    <a:pt x="575216" y="0"/>
                  </a:lnTo>
                  <a:cubicBezTo>
                    <a:pt x="611114" y="0"/>
                    <a:pt x="640215" y="29101"/>
                    <a:pt x="640215" y="64999"/>
                  </a:cubicBezTo>
                  <a:lnTo>
                    <a:pt x="640215" y="947174"/>
                  </a:lnTo>
                  <a:cubicBezTo>
                    <a:pt x="640215" y="983072"/>
                    <a:pt x="611114" y="1012174"/>
                    <a:pt x="575216" y="1012174"/>
                  </a:cubicBezTo>
                  <a:lnTo>
                    <a:pt x="64999" y="1012174"/>
                  </a:lnTo>
                  <a:cubicBezTo>
                    <a:pt x="29101" y="1012174"/>
                    <a:pt x="0" y="983072"/>
                    <a:pt x="0" y="947174"/>
                  </a:cubicBezTo>
                  <a:lnTo>
                    <a:pt x="0" y="64999"/>
                  </a:lnTo>
                  <a:cubicBezTo>
                    <a:pt x="0" y="29101"/>
                    <a:pt x="29101" y="0"/>
                    <a:pt x="649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40215" cy="1050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291796" y="4163129"/>
            <a:ext cx="2382155" cy="3766164"/>
            <a:chOff x="0" y="0"/>
            <a:chExt cx="640215" cy="101217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40215" cy="1012174"/>
            </a:xfrm>
            <a:custGeom>
              <a:avLst/>
              <a:gdLst/>
              <a:ahLst/>
              <a:cxnLst/>
              <a:rect r="r" b="b" t="t" l="l"/>
              <a:pathLst>
                <a:path h="1012174" w="640215">
                  <a:moveTo>
                    <a:pt x="64999" y="0"/>
                  </a:moveTo>
                  <a:lnTo>
                    <a:pt x="575216" y="0"/>
                  </a:lnTo>
                  <a:cubicBezTo>
                    <a:pt x="611114" y="0"/>
                    <a:pt x="640215" y="29101"/>
                    <a:pt x="640215" y="64999"/>
                  </a:cubicBezTo>
                  <a:lnTo>
                    <a:pt x="640215" y="947174"/>
                  </a:lnTo>
                  <a:cubicBezTo>
                    <a:pt x="640215" y="983072"/>
                    <a:pt x="611114" y="1012174"/>
                    <a:pt x="575216" y="1012174"/>
                  </a:cubicBezTo>
                  <a:lnTo>
                    <a:pt x="64999" y="1012174"/>
                  </a:lnTo>
                  <a:cubicBezTo>
                    <a:pt x="29101" y="1012174"/>
                    <a:pt x="0" y="983072"/>
                    <a:pt x="0" y="947174"/>
                  </a:cubicBezTo>
                  <a:lnTo>
                    <a:pt x="0" y="64999"/>
                  </a:lnTo>
                  <a:cubicBezTo>
                    <a:pt x="0" y="29101"/>
                    <a:pt x="29101" y="0"/>
                    <a:pt x="649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40215" cy="1050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454163" y="4163129"/>
            <a:ext cx="2382155" cy="3766164"/>
            <a:chOff x="0" y="0"/>
            <a:chExt cx="640215" cy="101217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0215" cy="1012174"/>
            </a:xfrm>
            <a:custGeom>
              <a:avLst/>
              <a:gdLst/>
              <a:ahLst/>
              <a:cxnLst/>
              <a:rect r="r" b="b" t="t" l="l"/>
              <a:pathLst>
                <a:path h="1012174" w="640215">
                  <a:moveTo>
                    <a:pt x="64999" y="0"/>
                  </a:moveTo>
                  <a:lnTo>
                    <a:pt x="575216" y="0"/>
                  </a:lnTo>
                  <a:cubicBezTo>
                    <a:pt x="611114" y="0"/>
                    <a:pt x="640215" y="29101"/>
                    <a:pt x="640215" y="64999"/>
                  </a:cubicBezTo>
                  <a:lnTo>
                    <a:pt x="640215" y="947174"/>
                  </a:lnTo>
                  <a:cubicBezTo>
                    <a:pt x="640215" y="983072"/>
                    <a:pt x="611114" y="1012174"/>
                    <a:pt x="575216" y="1012174"/>
                  </a:cubicBezTo>
                  <a:lnTo>
                    <a:pt x="64999" y="1012174"/>
                  </a:lnTo>
                  <a:cubicBezTo>
                    <a:pt x="29101" y="1012174"/>
                    <a:pt x="0" y="983072"/>
                    <a:pt x="0" y="947174"/>
                  </a:cubicBezTo>
                  <a:lnTo>
                    <a:pt x="0" y="64999"/>
                  </a:lnTo>
                  <a:cubicBezTo>
                    <a:pt x="0" y="29101"/>
                    <a:pt x="29101" y="0"/>
                    <a:pt x="649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40215" cy="1050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24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552566" y="3845988"/>
            <a:ext cx="634282" cy="634282"/>
            <a:chOff x="0" y="0"/>
            <a:chExt cx="167054" cy="16705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67054" cy="167054"/>
            </a:xfrm>
            <a:custGeom>
              <a:avLst/>
              <a:gdLst/>
              <a:ahLst/>
              <a:cxnLst/>
              <a:rect r="r" b="b" t="t" l="l"/>
              <a:pathLst>
                <a:path h="167054" w="167054">
                  <a:moveTo>
                    <a:pt x="83527" y="0"/>
                  </a:moveTo>
                  <a:lnTo>
                    <a:pt x="83527" y="0"/>
                  </a:lnTo>
                  <a:cubicBezTo>
                    <a:pt x="129658" y="0"/>
                    <a:pt x="167054" y="37396"/>
                    <a:pt x="167054" y="83527"/>
                  </a:cubicBezTo>
                  <a:lnTo>
                    <a:pt x="167054" y="83527"/>
                  </a:lnTo>
                  <a:cubicBezTo>
                    <a:pt x="167054" y="129658"/>
                    <a:pt x="129658" y="167054"/>
                    <a:pt x="83527" y="167054"/>
                  </a:cubicBezTo>
                  <a:lnTo>
                    <a:pt x="83527" y="167054"/>
                  </a:lnTo>
                  <a:cubicBezTo>
                    <a:pt x="37396" y="167054"/>
                    <a:pt x="0" y="129658"/>
                    <a:pt x="0" y="83527"/>
                  </a:cubicBezTo>
                  <a:lnTo>
                    <a:pt x="0" y="83527"/>
                  </a:lnTo>
                  <a:cubicBezTo>
                    <a:pt x="0" y="37396"/>
                    <a:pt x="37396" y="0"/>
                    <a:pt x="83527" y="0"/>
                  </a:cubicBezTo>
                  <a:close/>
                </a:path>
              </a:pathLst>
            </a:custGeom>
            <a:solidFill>
              <a:srgbClr val="A6DF18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67054" cy="205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 strike="noStrike" u="non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6713509" y="3845988"/>
            <a:ext cx="634282" cy="634282"/>
            <a:chOff x="0" y="0"/>
            <a:chExt cx="167054" cy="16705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7054" cy="167054"/>
            </a:xfrm>
            <a:custGeom>
              <a:avLst/>
              <a:gdLst/>
              <a:ahLst/>
              <a:cxnLst/>
              <a:rect r="r" b="b" t="t" l="l"/>
              <a:pathLst>
                <a:path h="167054" w="167054">
                  <a:moveTo>
                    <a:pt x="83527" y="0"/>
                  </a:moveTo>
                  <a:lnTo>
                    <a:pt x="83527" y="0"/>
                  </a:lnTo>
                  <a:cubicBezTo>
                    <a:pt x="129658" y="0"/>
                    <a:pt x="167054" y="37396"/>
                    <a:pt x="167054" y="83527"/>
                  </a:cubicBezTo>
                  <a:lnTo>
                    <a:pt x="167054" y="83527"/>
                  </a:lnTo>
                  <a:cubicBezTo>
                    <a:pt x="167054" y="129658"/>
                    <a:pt x="129658" y="167054"/>
                    <a:pt x="83527" y="167054"/>
                  </a:cubicBezTo>
                  <a:lnTo>
                    <a:pt x="83527" y="167054"/>
                  </a:lnTo>
                  <a:cubicBezTo>
                    <a:pt x="37396" y="167054"/>
                    <a:pt x="0" y="129658"/>
                    <a:pt x="0" y="83527"/>
                  </a:cubicBezTo>
                  <a:lnTo>
                    <a:pt x="0" y="83527"/>
                  </a:lnTo>
                  <a:cubicBezTo>
                    <a:pt x="0" y="37396"/>
                    <a:pt x="37396" y="0"/>
                    <a:pt x="83527" y="0"/>
                  </a:cubicBezTo>
                  <a:close/>
                </a:path>
              </a:pathLst>
            </a:custGeom>
            <a:solidFill>
              <a:srgbClr val="00CC91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67054" cy="205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874453" y="3845988"/>
            <a:ext cx="634282" cy="634282"/>
            <a:chOff x="0" y="0"/>
            <a:chExt cx="167054" cy="16705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67054" cy="167054"/>
            </a:xfrm>
            <a:custGeom>
              <a:avLst/>
              <a:gdLst/>
              <a:ahLst/>
              <a:cxnLst/>
              <a:rect r="r" b="b" t="t" l="l"/>
              <a:pathLst>
                <a:path h="167054" w="167054">
                  <a:moveTo>
                    <a:pt x="83527" y="0"/>
                  </a:moveTo>
                  <a:lnTo>
                    <a:pt x="83527" y="0"/>
                  </a:lnTo>
                  <a:cubicBezTo>
                    <a:pt x="129658" y="0"/>
                    <a:pt x="167054" y="37396"/>
                    <a:pt x="167054" y="83527"/>
                  </a:cubicBezTo>
                  <a:lnTo>
                    <a:pt x="167054" y="83527"/>
                  </a:lnTo>
                  <a:cubicBezTo>
                    <a:pt x="167054" y="129658"/>
                    <a:pt x="129658" y="167054"/>
                    <a:pt x="83527" y="167054"/>
                  </a:cubicBezTo>
                  <a:lnTo>
                    <a:pt x="83527" y="167054"/>
                  </a:lnTo>
                  <a:cubicBezTo>
                    <a:pt x="37396" y="167054"/>
                    <a:pt x="0" y="129658"/>
                    <a:pt x="0" y="83527"/>
                  </a:cubicBezTo>
                  <a:lnTo>
                    <a:pt x="0" y="83527"/>
                  </a:lnTo>
                  <a:cubicBezTo>
                    <a:pt x="0" y="37396"/>
                    <a:pt x="37396" y="0"/>
                    <a:pt x="83527" y="0"/>
                  </a:cubicBezTo>
                  <a:close/>
                </a:path>
              </a:pathLst>
            </a:custGeom>
            <a:solidFill>
              <a:srgbClr val="0098C9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67054" cy="205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035396" y="3845988"/>
            <a:ext cx="634282" cy="634282"/>
            <a:chOff x="0" y="0"/>
            <a:chExt cx="167054" cy="16705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67054" cy="167054"/>
            </a:xfrm>
            <a:custGeom>
              <a:avLst/>
              <a:gdLst/>
              <a:ahLst/>
              <a:cxnLst/>
              <a:rect r="r" b="b" t="t" l="l"/>
              <a:pathLst>
                <a:path h="167054" w="167054">
                  <a:moveTo>
                    <a:pt x="83527" y="0"/>
                  </a:moveTo>
                  <a:lnTo>
                    <a:pt x="83527" y="0"/>
                  </a:lnTo>
                  <a:cubicBezTo>
                    <a:pt x="129658" y="0"/>
                    <a:pt x="167054" y="37396"/>
                    <a:pt x="167054" y="83527"/>
                  </a:cubicBezTo>
                  <a:lnTo>
                    <a:pt x="167054" y="83527"/>
                  </a:lnTo>
                  <a:cubicBezTo>
                    <a:pt x="167054" y="129658"/>
                    <a:pt x="129658" y="167054"/>
                    <a:pt x="83527" y="167054"/>
                  </a:cubicBezTo>
                  <a:lnTo>
                    <a:pt x="83527" y="167054"/>
                  </a:lnTo>
                  <a:cubicBezTo>
                    <a:pt x="37396" y="167054"/>
                    <a:pt x="0" y="129658"/>
                    <a:pt x="0" y="83527"/>
                  </a:cubicBezTo>
                  <a:lnTo>
                    <a:pt x="0" y="83527"/>
                  </a:lnTo>
                  <a:cubicBezTo>
                    <a:pt x="0" y="37396"/>
                    <a:pt x="37396" y="0"/>
                    <a:pt x="83527" y="0"/>
                  </a:cubicBezTo>
                  <a:close/>
                </a:path>
              </a:pathLst>
            </a:custGeom>
            <a:solidFill>
              <a:srgbClr val="0285E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67054" cy="205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4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6196339" y="3845988"/>
            <a:ext cx="634282" cy="634282"/>
            <a:chOff x="0" y="0"/>
            <a:chExt cx="167054" cy="16705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67054" cy="167054"/>
            </a:xfrm>
            <a:custGeom>
              <a:avLst/>
              <a:gdLst/>
              <a:ahLst/>
              <a:cxnLst/>
              <a:rect r="r" b="b" t="t" l="l"/>
              <a:pathLst>
                <a:path h="167054" w="167054">
                  <a:moveTo>
                    <a:pt x="83527" y="0"/>
                  </a:moveTo>
                  <a:lnTo>
                    <a:pt x="83527" y="0"/>
                  </a:lnTo>
                  <a:cubicBezTo>
                    <a:pt x="129658" y="0"/>
                    <a:pt x="167054" y="37396"/>
                    <a:pt x="167054" y="83527"/>
                  </a:cubicBezTo>
                  <a:lnTo>
                    <a:pt x="167054" y="83527"/>
                  </a:lnTo>
                  <a:cubicBezTo>
                    <a:pt x="167054" y="129658"/>
                    <a:pt x="129658" y="167054"/>
                    <a:pt x="83527" y="167054"/>
                  </a:cubicBezTo>
                  <a:lnTo>
                    <a:pt x="83527" y="167054"/>
                  </a:lnTo>
                  <a:cubicBezTo>
                    <a:pt x="37396" y="167054"/>
                    <a:pt x="0" y="129658"/>
                    <a:pt x="0" y="83527"/>
                  </a:cubicBezTo>
                  <a:lnTo>
                    <a:pt x="0" y="83527"/>
                  </a:lnTo>
                  <a:cubicBezTo>
                    <a:pt x="0" y="37396"/>
                    <a:pt x="37396" y="0"/>
                    <a:pt x="83527" y="0"/>
                  </a:cubicBezTo>
                  <a:close/>
                </a:path>
              </a:pathLst>
            </a:custGeom>
            <a:solidFill>
              <a:srgbClr val="5D65DA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167054" cy="205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  <a:r>
                <a:rPr lang="en-US" b="true" sz="1899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5</a:t>
              </a: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5107055" y="4568485"/>
            <a:ext cx="669608" cy="669608"/>
          </a:xfrm>
          <a:custGeom>
            <a:avLst/>
            <a:gdLst/>
            <a:ahLst/>
            <a:cxnLst/>
            <a:rect r="r" b="b" t="t" l="l"/>
            <a:pathLst>
              <a:path h="669608" w="669608">
                <a:moveTo>
                  <a:pt x="0" y="0"/>
                </a:moveTo>
                <a:lnTo>
                  <a:pt x="669607" y="0"/>
                </a:lnTo>
                <a:lnTo>
                  <a:pt x="669607" y="669607"/>
                </a:lnTo>
                <a:lnTo>
                  <a:pt x="0" y="66960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8269422" y="4568485"/>
            <a:ext cx="762493" cy="669608"/>
          </a:xfrm>
          <a:custGeom>
            <a:avLst/>
            <a:gdLst/>
            <a:ahLst/>
            <a:cxnLst/>
            <a:rect r="r" b="b" t="t" l="l"/>
            <a:pathLst>
              <a:path h="669608" w="762493">
                <a:moveTo>
                  <a:pt x="0" y="0"/>
                </a:moveTo>
                <a:lnTo>
                  <a:pt x="762493" y="0"/>
                </a:lnTo>
                <a:lnTo>
                  <a:pt x="762493" y="669607"/>
                </a:lnTo>
                <a:lnTo>
                  <a:pt x="0" y="66960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1431790" y="4568485"/>
            <a:ext cx="732175" cy="669608"/>
          </a:xfrm>
          <a:custGeom>
            <a:avLst/>
            <a:gdLst/>
            <a:ahLst/>
            <a:cxnLst/>
            <a:rect r="r" b="b" t="t" l="l"/>
            <a:pathLst>
              <a:path h="669608" w="732175">
                <a:moveTo>
                  <a:pt x="0" y="0"/>
                </a:moveTo>
                <a:lnTo>
                  <a:pt x="732175" y="0"/>
                </a:lnTo>
                <a:lnTo>
                  <a:pt x="732175" y="669607"/>
                </a:lnTo>
                <a:lnTo>
                  <a:pt x="0" y="66960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14594157" y="4568485"/>
            <a:ext cx="650128" cy="669608"/>
          </a:xfrm>
          <a:custGeom>
            <a:avLst/>
            <a:gdLst/>
            <a:ahLst/>
            <a:cxnLst/>
            <a:rect r="r" b="b" t="t" l="l"/>
            <a:pathLst>
              <a:path h="669608" w="650128">
                <a:moveTo>
                  <a:pt x="0" y="0"/>
                </a:moveTo>
                <a:lnTo>
                  <a:pt x="650128" y="0"/>
                </a:lnTo>
                <a:lnTo>
                  <a:pt x="650128" y="669607"/>
                </a:lnTo>
                <a:lnTo>
                  <a:pt x="0" y="66960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1" id="41"/>
          <p:cNvSpPr/>
          <p:nvPr/>
        </p:nvSpPr>
        <p:spPr>
          <a:xfrm flipH="false" flipV="false" rot="0">
            <a:off x="2033754" y="4652186"/>
            <a:ext cx="669607" cy="502206"/>
          </a:xfrm>
          <a:custGeom>
            <a:avLst/>
            <a:gdLst/>
            <a:ahLst/>
            <a:cxnLst/>
            <a:rect r="r" b="b" t="t" l="l"/>
            <a:pathLst>
              <a:path h="502206" w="669607">
                <a:moveTo>
                  <a:pt x="0" y="0"/>
                </a:moveTo>
                <a:lnTo>
                  <a:pt x="669607" y="0"/>
                </a:lnTo>
                <a:lnTo>
                  <a:pt x="669607" y="502205"/>
                </a:lnTo>
                <a:lnTo>
                  <a:pt x="0" y="50220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3810000" y="876300"/>
            <a:ext cx="10858500" cy="61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b="true" sz="35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Landing Page Optimization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810000" y="1604095"/>
            <a:ext cx="108585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Essential elements that transform visitors into engaged leads successfully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594157" y="6116205"/>
            <a:ext cx="2102167" cy="1102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Minimizing fri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ction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by requesting only essential information from prospects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431790" y="6116205"/>
            <a:ext cx="2102167" cy="1378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Dir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ecting visitors toward conversion with prominent, action-oriented buttons clearly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594157" y="5658752"/>
            <a:ext cx="2102167" cy="253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b="true" sz="1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Form </a:t>
            </a:r>
            <a:r>
              <a:rPr lang="en-US" b="true" sz="1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Optimization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431790" y="5658752"/>
            <a:ext cx="2102167" cy="253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b="true" sz="1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Cl</a:t>
            </a:r>
            <a:r>
              <a:rPr lang="en-US" b="true" sz="1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ear Call-to-Action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8269422" y="6116205"/>
            <a:ext cx="2102167" cy="1378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uilding trust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through testimonials, statistics, and credibility indicators effectively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269422" y="5658752"/>
            <a:ext cx="2102167" cy="253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b="true" sz="1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So</a:t>
            </a:r>
            <a:r>
              <a:rPr lang="en-US" b="true" sz="1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cial Proof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107055" y="6116205"/>
            <a:ext cx="2102167" cy="1102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Guiding eager eyes through engaging content with strategic layout and design.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107055" y="5658752"/>
            <a:ext cx="2102167" cy="253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b="true" sz="1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Visual Hi</a:t>
            </a:r>
            <a:r>
              <a:rPr lang="en-US" b="true" sz="1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erarchy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944687" y="6116205"/>
            <a:ext cx="2102167" cy="1378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Cap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turing attention immediately with clear, benefit-driven messaging that resonates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944687" y="5658752"/>
            <a:ext cx="2102167" cy="253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2"/>
              </a:lnSpc>
            </a:pPr>
            <a:r>
              <a:rPr lang="en-US" b="true" sz="1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Comp</a:t>
            </a:r>
            <a:r>
              <a:rPr lang="en-US" b="true" sz="1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elling Headline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460895" y="3409327"/>
            <a:ext cx="6455660" cy="1786182"/>
            <a:chOff x="0" y="0"/>
            <a:chExt cx="1347843" cy="3729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7843" cy="372927"/>
            </a:xfrm>
            <a:custGeom>
              <a:avLst/>
              <a:gdLst/>
              <a:ahLst/>
              <a:cxnLst/>
              <a:rect r="r" b="b" t="t" l="l"/>
              <a:pathLst>
                <a:path h="372927" w="1347843">
                  <a:moveTo>
                    <a:pt x="0" y="0"/>
                  </a:moveTo>
                  <a:lnTo>
                    <a:pt x="1118688" y="0"/>
                  </a:lnTo>
                  <a:cubicBezTo>
                    <a:pt x="1252912" y="0"/>
                    <a:pt x="1347843" y="83483"/>
                    <a:pt x="1347843" y="186464"/>
                  </a:cubicBezTo>
                  <a:cubicBezTo>
                    <a:pt x="1347843" y="289445"/>
                    <a:pt x="1252912" y="372927"/>
                    <a:pt x="1118688" y="372927"/>
                  </a:cubicBezTo>
                  <a:lnTo>
                    <a:pt x="0" y="3729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5400" y="-38100"/>
              <a:ext cx="1119243" cy="411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2700000">
            <a:off x="1431503" y="3146003"/>
            <a:ext cx="2312830" cy="2312830"/>
          </a:xfrm>
          <a:custGeom>
            <a:avLst/>
            <a:gdLst/>
            <a:ahLst/>
            <a:cxnLst/>
            <a:rect r="r" b="b" t="t" l="l"/>
            <a:pathLst>
              <a:path h="2312830" w="2312830">
                <a:moveTo>
                  <a:pt x="0" y="0"/>
                </a:moveTo>
                <a:lnTo>
                  <a:pt x="2312830" y="0"/>
                </a:lnTo>
                <a:lnTo>
                  <a:pt x="2312830" y="2312830"/>
                </a:lnTo>
                <a:lnTo>
                  <a:pt x="0" y="2312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2700000">
            <a:off x="1392023" y="3241316"/>
            <a:ext cx="2122202" cy="212220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5400000">
            <a:off x="614292" y="3692563"/>
            <a:ext cx="2457954" cy="1219710"/>
            <a:chOff x="0" y="0"/>
            <a:chExt cx="812800" cy="4033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403336"/>
            </a:xfrm>
            <a:custGeom>
              <a:avLst/>
              <a:gdLst/>
              <a:ahLst/>
              <a:cxnLst/>
              <a:rect r="r" b="b" t="t" l="l"/>
              <a:pathLst>
                <a:path h="403336" w="812800">
                  <a:moveTo>
                    <a:pt x="406400" y="0"/>
                  </a:moveTo>
                  <a:lnTo>
                    <a:pt x="812800" y="403336"/>
                  </a:lnTo>
                  <a:lnTo>
                    <a:pt x="0" y="40333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5D65D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7000" y="149163"/>
              <a:ext cx="558800" cy="225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75263" y="3913182"/>
            <a:ext cx="853829" cy="61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2711660" y="3983585"/>
            <a:ext cx="614478" cy="637666"/>
          </a:xfrm>
          <a:custGeom>
            <a:avLst/>
            <a:gdLst/>
            <a:ahLst/>
            <a:cxnLst/>
            <a:rect r="r" b="b" t="t" l="l"/>
            <a:pathLst>
              <a:path h="637666" w="614478">
                <a:moveTo>
                  <a:pt x="0" y="0"/>
                </a:moveTo>
                <a:lnTo>
                  <a:pt x="614479" y="0"/>
                </a:lnTo>
                <a:lnTo>
                  <a:pt x="614479" y="637666"/>
                </a:lnTo>
                <a:lnTo>
                  <a:pt x="0" y="6376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8279471" y="4145255"/>
            <a:ext cx="314325" cy="314325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3F5"/>
            </a:solidFill>
            <a:ln w="57150" cap="sq">
              <a:solidFill>
                <a:srgbClr val="5D65DA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223335" y="4218889"/>
            <a:ext cx="3987124" cy="549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ercentage of visitors who complete desired action and provide information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23335" y="3797903"/>
            <a:ext cx="3987124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Conv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ersion Rate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747645" y="3409327"/>
            <a:ext cx="6455660" cy="1786182"/>
            <a:chOff x="0" y="0"/>
            <a:chExt cx="1347843" cy="37292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47843" cy="372927"/>
            </a:xfrm>
            <a:custGeom>
              <a:avLst/>
              <a:gdLst/>
              <a:ahLst/>
              <a:cxnLst/>
              <a:rect r="r" b="b" t="t" l="l"/>
              <a:pathLst>
                <a:path h="372927" w="1347843">
                  <a:moveTo>
                    <a:pt x="0" y="0"/>
                  </a:moveTo>
                  <a:lnTo>
                    <a:pt x="1118688" y="0"/>
                  </a:lnTo>
                  <a:cubicBezTo>
                    <a:pt x="1252912" y="0"/>
                    <a:pt x="1347843" y="83483"/>
                    <a:pt x="1347843" y="186464"/>
                  </a:cubicBezTo>
                  <a:cubicBezTo>
                    <a:pt x="1347843" y="289445"/>
                    <a:pt x="1252912" y="372927"/>
                    <a:pt x="1118688" y="372927"/>
                  </a:cubicBezTo>
                  <a:lnTo>
                    <a:pt x="0" y="3729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25400" y="-38100"/>
              <a:ext cx="1119243" cy="411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-2700000">
            <a:off x="9718253" y="3146003"/>
            <a:ext cx="2312830" cy="2312830"/>
          </a:xfrm>
          <a:custGeom>
            <a:avLst/>
            <a:gdLst/>
            <a:ahLst/>
            <a:cxnLst/>
            <a:rect r="r" b="b" t="t" l="l"/>
            <a:pathLst>
              <a:path h="2312830" w="2312830">
                <a:moveTo>
                  <a:pt x="0" y="0"/>
                </a:moveTo>
                <a:lnTo>
                  <a:pt x="2312830" y="0"/>
                </a:lnTo>
                <a:lnTo>
                  <a:pt x="2312830" y="2312830"/>
                </a:lnTo>
                <a:lnTo>
                  <a:pt x="0" y="2312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-2700000">
            <a:off x="9678773" y="3241316"/>
            <a:ext cx="2122202" cy="212220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5400000">
            <a:off x="8901042" y="3692563"/>
            <a:ext cx="2457954" cy="1219710"/>
            <a:chOff x="0" y="0"/>
            <a:chExt cx="812800" cy="4033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403336"/>
            </a:xfrm>
            <a:custGeom>
              <a:avLst/>
              <a:gdLst/>
              <a:ahLst/>
              <a:cxnLst/>
              <a:rect r="r" b="b" t="t" l="l"/>
              <a:pathLst>
                <a:path h="403336" w="812800">
                  <a:moveTo>
                    <a:pt x="406400" y="0"/>
                  </a:moveTo>
                  <a:lnTo>
                    <a:pt x="812800" y="403336"/>
                  </a:lnTo>
                  <a:lnTo>
                    <a:pt x="0" y="40333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CC91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27000" y="149163"/>
              <a:ext cx="558800" cy="225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762013" y="3913182"/>
            <a:ext cx="853829" cy="61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6566221" y="4145255"/>
            <a:ext cx="314325" cy="314325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3F5"/>
            </a:solidFill>
            <a:ln w="57150" cap="sq">
              <a:solidFill>
                <a:srgbClr val="00CC91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2510085" y="4218889"/>
            <a:ext cx="3987124" cy="549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Assessment of how well potential leads match the ideal customer profile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510085" y="3797903"/>
            <a:ext cx="3987124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Lead Quality Score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2460895" y="6838327"/>
            <a:ext cx="6455660" cy="1786182"/>
            <a:chOff x="0" y="0"/>
            <a:chExt cx="1347843" cy="37292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47843" cy="372927"/>
            </a:xfrm>
            <a:custGeom>
              <a:avLst/>
              <a:gdLst/>
              <a:ahLst/>
              <a:cxnLst/>
              <a:rect r="r" b="b" t="t" l="l"/>
              <a:pathLst>
                <a:path h="372927" w="1347843">
                  <a:moveTo>
                    <a:pt x="0" y="0"/>
                  </a:moveTo>
                  <a:lnTo>
                    <a:pt x="1118688" y="0"/>
                  </a:lnTo>
                  <a:cubicBezTo>
                    <a:pt x="1252912" y="0"/>
                    <a:pt x="1347843" y="83483"/>
                    <a:pt x="1347843" y="186464"/>
                  </a:cubicBezTo>
                  <a:cubicBezTo>
                    <a:pt x="1347843" y="289445"/>
                    <a:pt x="1252912" y="372927"/>
                    <a:pt x="1118688" y="372927"/>
                  </a:cubicBezTo>
                  <a:lnTo>
                    <a:pt x="0" y="3729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25400" y="-38100"/>
              <a:ext cx="1119243" cy="411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38" id="38"/>
          <p:cNvSpPr/>
          <p:nvPr/>
        </p:nvSpPr>
        <p:spPr>
          <a:xfrm flipH="false" flipV="false" rot="-2700000">
            <a:off x="1431503" y="6575003"/>
            <a:ext cx="2312830" cy="2312830"/>
          </a:xfrm>
          <a:custGeom>
            <a:avLst/>
            <a:gdLst/>
            <a:ahLst/>
            <a:cxnLst/>
            <a:rect r="r" b="b" t="t" l="l"/>
            <a:pathLst>
              <a:path h="2312830" w="2312830">
                <a:moveTo>
                  <a:pt x="0" y="0"/>
                </a:moveTo>
                <a:lnTo>
                  <a:pt x="2312830" y="0"/>
                </a:lnTo>
                <a:lnTo>
                  <a:pt x="2312830" y="2312830"/>
                </a:lnTo>
                <a:lnTo>
                  <a:pt x="0" y="2312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-2700000">
            <a:off x="1392023" y="6670316"/>
            <a:ext cx="2122202" cy="2122202"/>
            <a:chOff x="0" y="0"/>
            <a:chExt cx="812800" cy="8128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42" id="42"/>
          <p:cNvGrpSpPr/>
          <p:nvPr/>
        </p:nvGrpSpPr>
        <p:grpSpPr>
          <a:xfrm rot="-5400000">
            <a:off x="614292" y="7121563"/>
            <a:ext cx="2457954" cy="1219710"/>
            <a:chOff x="0" y="0"/>
            <a:chExt cx="812800" cy="403336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12800" cy="403336"/>
            </a:xfrm>
            <a:custGeom>
              <a:avLst/>
              <a:gdLst/>
              <a:ahLst/>
              <a:cxnLst/>
              <a:rect r="r" b="b" t="t" l="l"/>
              <a:pathLst>
                <a:path h="403336" w="812800">
                  <a:moveTo>
                    <a:pt x="406400" y="0"/>
                  </a:moveTo>
                  <a:lnTo>
                    <a:pt x="812800" y="403336"/>
                  </a:lnTo>
                  <a:lnTo>
                    <a:pt x="0" y="40333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98CA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127000" y="149163"/>
              <a:ext cx="558800" cy="225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475263" y="7342182"/>
            <a:ext cx="853829" cy="61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8279471" y="7574255"/>
            <a:ext cx="314325" cy="314325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3F5"/>
            </a:solidFill>
            <a:ln w="57150" cap="sq">
              <a:solidFill>
                <a:srgbClr val="0098CA"/>
              </a:solidFill>
              <a:prstDash val="solid"/>
              <a:miter/>
            </a:ln>
          </p:spPr>
        </p:sp>
        <p:sp>
          <p:nvSpPr>
            <p:cNvPr name="TextBox 48" id="4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4223335" y="7647889"/>
            <a:ext cx="3987124" cy="549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Total inv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estment divided by number of qualified leads generated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223335" y="7226903"/>
            <a:ext cx="3987124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Cost Per 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Lead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0747645" y="6838327"/>
            <a:ext cx="6455660" cy="1786182"/>
            <a:chOff x="0" y="0"/>
            <a:chExt cx="1347843" cy="37292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347843" cy="372927"/>
            </a:xfrm>
            <a:custGeom>
              <a:avLst/>
              <a:gdLst/>
              <a:ahLst/>
              <a:cxnLst/>
              <a:rect r="r" b="b" t="t" l="l"/>
              <a:pathLst>
                <a:path h="372927" w="1347843">
                  <a:moveTo>
                    <a:pt x="0" y="0"/>
                  </a:moveTo>
                  <a:lnTo>
                    <a:pt x="1118688" y="0"/>
                  </a:lnTo>
                  <a:cubicBezTo>
                    <a:pt x="1252912" y="0"/>
                    <a:pt x="1347843" y="83483"/>
                    <a:pt x="1347843" y="186464"/>
                  </a:cubicBezTo>
                  <a:cubicBezTo>
                    <a:pt x="1347843" y="289445"/>
                    <a:pt x="1252912" y="372927"/>
                    <a:pt x="1118688" y="372927"/>
                  </a:cubicBezTo>
                  <a:lnTo>
                    <a:pt x="0" y="3729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25400" y="-38100"/>
              <a:ext cx="1119243" cy="411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-2700000">
            <a:off x="9718253" y="6575003"/>
            <a:ext cx="2312830" cy="2312830"/>
          </a:xfrm>
          <a:custGeom>
            <a:avLst/>
            <a:gdLst/>
            <a:ahLst/>
            <a:cxnLst/>
            <a:rect r="r" b="b" t="t" l="l"/>
            <a:pathLst>
              <a:path h="2312830" w="2312830">
                <a:moveTo>
                  <a:pt x="0" y="0"/>
                </a:moveTo>
                <a:lnTo>
                  <a:pt x="2312830" y="0"/>
                </a:lnTo>
                <a:lnTo>
                  <a:pt x="2312830" y="2312830"/>
                </a:lnTo>
                <a:lnTo>
                  <a:pt x="0" y="23128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999"/>
            </a:blip>
            <a:stretch>
              <a:fillRect l="0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-2700000">
            <a:off x="9678773" y="6670316"/>
            <a:ext cx="2122202" cy="2122202"/>
            <a:chOff x="0" y="0"/>
            <a:chExt cx="812800" cy="812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-5400000">
            <a:off x="8901042" y="7121563"/>
            <a:ext cx="2457954" cy="1219710"/>
            <a:chOff x="0" y="0"/>
            <a:chExt cx="812800" cy="40333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403336"/>
            </a:xfrm>
            <a:custGeom>
              <a:avLst/>
              <a:gdLst/>
              <a:ahLst/>
              <a:cxnLst/>
              <a:rect r="r" b="b" t="t" l="l"/>
              <a:pathLst>
                <a:path h="403336" w="812800">
                  <a:moveTo>
                    <a:pt x="406400" y="0"/>
                  </a:moveTo>
                  <a:lnTo>
                    <a:pt x="812800" y="403336"/>
                  </a:lnTo>
                  <a:lnTo>
                    <a:pt x="0" y="40333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6E017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127000" y="149163"/>
              <a:ext cx="558800" cy="2253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9762013" y="7342182"/>
            <a:ext cx="853829" cy="61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b="true" sz="3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6566221" y="7574255"/>
            <a:ext cx="314325" cy="314325"/>
            <a:chOff x="0" y="0"/>
            <a:chExt cx="812800" cy="812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3F3F5"/>
            </a:solidFill>
            <a:ln w="57150" cap="sq">
              <a:solidFill>
                <a:srgbClr val="A6E017"/>
              </a:solidFill>
              <a:prstDash val="solid"/>
              <a:miter/>
            </a:ln>
          </p:spPr>
        </p:sp>
        <p:sp>
          <p:nvSpPr>
            <p:cNvPr name="TextBox 64" id="6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12510085" y="7647889"/>
            <a:ext cx="3987124" cy="549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Average duration from first contact to qualified lead status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2510085" y="7226903"/>
            <a:ext cx="3987124" cy="306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Tim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 to Conversion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3810000" y="876300"/>
            <a:ext cx="10858500" cy="61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b="true" sz="35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Lead Generation Success Metrics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3810000" y="1604095"/>
            <a:ext cx="108585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Key performance indicators for measuring and improving campaign effectiveness</a:t>
            </a:r>
          </a:p>
        </p:txBody>
      </p:sp>
      <p:sp>
        <p:nvSpPr>
          <p:cNvPr name="Freeform 69" id="69"/>
          <p:cNvSpPr/>
          <p:nvPr/>
        </p:nvSpPr>
        <p:spPr>
          <a:xfrm flipH="false" flipV="false" rot="0">
            <a:off x="2711660" y="7412806"/>
            <a:ext cx="747018" cy="637222"/>
          </a:xfrm>
          <a:custGeom>
            <a:avLst/>
            <a:gdLst/>
            <a:ahLst/>
            <a:cxnLst/>
            <a:rect r="r" b="b" t="t" l="l"/>
            <a:pathLst>
              <a:path h="637222" w="747018">
                <a:moveTo>
                  <a:pt x="0" y="0"/>
                </a:moveTo>
                <a:lnTo>
                  <a:pt x="747019" y="0"/>
                </a:lnTo>
                <a:lnTo>
                  <a:pt x="747019" y="637223"/>
                </a:lnTo>
                <a:lnTo>
                  <a:pt x="0" y="6372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10998410" y="3983806"/>
            <a:ext cx="573500" cy="637223"/>
          </a:xfrm>
          <a:custGeom>
            <a:avLst/>
            <a:gdLst/>
            <a:ahLst/>
            <a:cxnLst/>
            <a:rect r="r" b="b" t="t" l="l"/>
            <a:pathLst>
              <a:path h="637223" w="573500">
                <a:moveTo>
                  <a:pt x="0" y="0"/>
                </a:moveTo>
                <a:lnTo>
                  <a:pt x="573501" y="0"/>
                </a:lnTo>
                <a:lnTo>
                  <a:pt x="573501" y="637223"/>
                </a:lnTo>
                <a:lnTo>
                  <a:pt x="0" y="63722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1" id="71"/>
          <p:cNvSpPr/>
          <p:nvPr/>
        </p:nvSpPr>
        <p:spPr>
          <a:xfrm flipH="false" flipV="false" rot="0">
            <a:off x="10998410" y="7412806"/>
            <a:ext cx="603623" cy="637222"/>
          </a:xfrm>
          <a:custGeom>
            <a:avLst/>
            <a:gdLst/>
            <a:ahLst/>
            <a:cxnLst/>
            <a:rect r="r" b="b" t="t" l="l"/>
            <a:pathLst>
              <a:path h="637222" w="603623">
                <a:moveTo>
                  <a:pt x="0" y="0"/>
                </a:moveTo>
                <a:lnTo>
                  <a:pt x="603624" y="0"/>
                </a:lnTo>
                <a:lnTo>
                  <a:pt x="603624" y="637223"/>
                </a:lnTo>
                <a:lnTo>
                  <a:pt x="0" y="63722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0730" y="2745561"/>
            <a:ext cx="9325618" cy="6019490"/>
          </a:xfrm>
          <a:custGeom>
            <a:avLst/>
            <a:gdLst/>
            <a:ahLst/>
            <a:cxnLst/>
            <a:rect r="r" b="b" t="t" l="l"/>
            <a:pathLst>
              <a:path h="6019490" w="9325618">
                <a:moveTo>
                  <a:pt x="0" y="0"/>
                </a:moveTo>
                <a:lnTo>
                  <a:pt x="9325618" y="0"/>
                </a:lnTo>
                <a:lnTo>
                  <a:pt x="9325618" y="6019490"/>
                </a:lnTo>
                <a:lnTo>
                  <a:pt x="0" y="60194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6809" b="-48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72801" y="2745561"/>
            <a:ext cx="1717144" cy="6048876"/>
          </a:xfrm>
          <a:custGeom>
            <a:avLst/>
            <a:gdLst/>
            <a:ahLst/>
            <a:cxnLst/>
            <a:rect r="r" b="b" t="t" l="l"/>
            <a:pathLst>
              <a:path h="6048876" w="1717144">
                <a:moveTo>
                  <a:pt x="0" y="0"/>
                </a:moveTo>
                <a:lnTo>
                  <a:pt x="1717145" y="0"/>
                </a:lnTo>
                <a:lnTo>
                  <a:pt x="1717145" y="6048876"/>
                </a:lnTo>
                <a:lnTo>
                  <a:pt x="0" y="60488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697304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62406" y="2901811"/>
            <a:ext cx="430124" cy="428625"/>
          </a:xfrm>
          <a:custGeom>
            <a:avLst/>
            <a:gdLst/>
            <a:ahLst/>
            <a:cxnLst/>
            <a:rect r="r" b="b" t="t" l="l"/>
            <a:pathLst>
              <a:path h="428625" w="430124">
                <a:moveTo>
                  <a:pt x="0" y="0"/>
                </a:moveTo>
                <a:lnTo>
                  <a:pt x="430123" y="0"/>
                </a:lnTo>
                <a:lnTo>
                  <a:pt x="430123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384976" y="3846840"/>
            <a:ext cx="384983" cy="428625"/>
          </a:xfrm>
          <a:custGeom>
            <a:avLst/>
            <a:gdLst/>
            <a:ahLst/>
            <a:cxnLst/>
            <a:rect r="r" b="b" t="t" l="l"/>
            <a:pathLst>
              <a:path h="428625" w="384983">
                <a:moveTo>
                  <a:pt x="0" y="0"/>
                </a:moveTo>
                <a:lnTo>
                  <a:pt x="384983" y="0"/>
                </a:lnTo>
                <a:lnTo>
                  <a:pt x="384983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8388655" y="4787424"/>
            <a:ext cx="377624" cy="428625"/>
          </a:xfrm>
          <a:custGeom>
            <a:avLst/>
            <a:gdLst/>
            <a:ahLst/>
            <a:cxnLst/>
            <a:rect r="r" b="b" t="t" l="l"/>
            <a:pathLst>
              <a:path h="428625" w="377624">
                <a:moveTo>
                  <a:pt x="0" y="0"/>
                </a:moveTo>
                <a:lnTo>
                  <a:pt x="377625" y="0"/>
                </a:lnTo>
                <a:lnTo>
                  <a:pt x="377625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339701" y="5755306"/>
            <a:ext cx="475533" cy="428625"/>
          </a:xfrm>
          <a:custGeom>
            <a:avLst/>
            <a:gdLst/>
            <a:ahLst/>
            <a:cxnLst/>
            <a:rect r="r" b="b" t="t" l="l"/>
            <a:pathLst>
              <a:path h="428625" w="475533">
                <a:moveTo>
                  <a:pt x="0" y="0"/>
                </a:moveTo>
                <a:lnTo>
                  <a:pt x="475533" y="0"/>
                </a:lnTo>
                <a:lnTo>
                  <a:pt x="475533" y="428625"/>
                </a:lnTo>
                <a:lnTo>
                  <a:pt x="0" y="42862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491371" y="2729420"/>
            <a:ext cx="4531150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Determining what prospects need most to solve their challenges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491371" y="3767110"/>
            <a:ext cx="4531150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Choosing the right content type that resonates with audience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91371" y="4702841"/>
            <a:ext cx="4531150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Creating professional, accessible resources that demonstrate expertise and credibility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491371" y="5717206"/>
            <a:ext cx="4531150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Distributing lead magnets across channels to maximize visibility and downloads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810000" y="876300"/>
            <a:ext cx="10858500" cy="61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b="true" sz="35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Lead Magnet Development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10000" y="1604095"/>
            <a:ext cx="108585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Creating irresistible offers that convert visitors into qualified leads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0" y="2943730"/>
            <a:ext cx="2667000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Value</a:t>
            </a: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 Identification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0" y="3886537"/>
            <a:ext cx="2667000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Format S</a:t>
            </a:r>
            <a:r>
              <a:rPr lang="en-US" b="true" sz="1800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election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4829343"/>
            <a:ext cx="2667000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esign and Package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0" y="5772150"/>
            <a:ext cx="2667000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Promot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ion Strategy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60730" y="8869826"/>
            <a:ext cx="717638" cy="365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05416" y="8869826"/>
            <a:ext cx="717638" cy="365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50102" y="8869826"/>
            <a:ext cx="717638" cy="365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194788" y="8869826"/>
            <a:ext cx="717638" cy="365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4879761"/>
            <a:ext cx="2942560" cy="3948692"/>
            <a:chOff x="0" y="0"/>
            <a:chExt cx="3923414" cy="5264923"/>
          </a:xfrm>
        </p:grpSpPr>
        <p:grpSp>
          <p:nvGrpSpPr>
            <p:cNvPr name="Group 3" id="3"/>
            <p:cNvGrpSpPr/>
            <p:nvPr/>
          </p:nvGrpSpPr>
          <p:grpSpPr>
            <a:xfrm rot="-10800000">
              <a:off x="0" y="55226"/>
              <a:ext cx="3923414" cy="4539470"/>
              <a:chOff x="0" y="0"/>
              <a:chExt cx="520700" cy="60246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520700" cy="593949"/>
              </a:xfrm>
              <a:custGeom>
                <a:avLst/>
                <a:gdLst/>
                <a:ahLst/>
                <a:cxnLst/>
                <a:rect r="r" b="b" t="t" l="l"/>
                <a:pathLst>
                  <a:path h="593949" w="520700">
                    <a:moveTo>
                      <a:pt x="0" y="23597"/>
                    </a:moveTo>
                    <a:lnTo>
                      <a:pt x="0" y="362964"/>
                    </a:lnTo>
                    <a:cubicBezTo>
                      <a:pt x="0" y="377911"/>
                      <a:pt x="6658" y="392082"/>
                      <a:pt x="18164" y="401623"/>
                    </a:cubicBezTo>
                    <a:lnTo>
                      <a:pt x="242186" y="587398"/>
                    </a:lnTo>
                    <a:cubicBezTo>
                      <a:pt x="252720" y="596133"/>
                      <a:pt x="267980" y="596133"/>
                      <a:pt x="278514" y="587398"/>
                    </a:cubicBezTo>
                    <a:lnTo>
                      <a:pt x="502536" y="401623"/>
                    </a:lnTo>
                    <a:cubicBezTo>
                      <a:pt x="514042" y="392082"/>
                      <a:pt x="520700" y="377911"/>
                      <a:pt x="520700" y="362964"/>
                    </a:cubicBezTo>
                    <a:lnTo>
                      <a:pt x="520700" y="23597"/>
                    </a:lnTo>
                    <a:cubicBezTo>
                      <a:pt x="520700" y="17339"/>
                      <a:pt x="518214" y="11337"/>
                      <a:pt x="513789" y="6911"/>
                    </a:cubicBezTo>
                    <a:cubicBezTo>
                      <a:pt x="509363" y="2486"/>
                      <a:pt x="503361" y="0"/>
                      <a:pt x="497103" y="0"/>
                    </a:cubicBezTo>
                    <a:lnTo>
                      <a:pt x="23597" y="0"/>
                    </a:lnTo>
                    <a:cubicBezTo>
                      <a:pt x="17339" y="0"/>
                      <a:pt x="11337" y="2486"/>
                      <a:pt x="6911" y="6911"/>
                    </a:cubicBezTo>
                    <a:cubicBezTo>
                      <a:pt x="2486" y="11337"/>
                      <a:pt x="0" y="17339"/>
                      <a:pt x="0" y="2359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12700"/>
                <a:ext cx="520700" cy="3865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1780990" y="0"/>
              <a:ext cx="361433" cy="361433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6DF18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0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37577" y="3927864"/>
              <a:ext cx="3848259" cy="1337059"/>
            </a:xfrm>
            <a:custGeom>
              <a:avLst/>
              <a:gdLst/>
              <a:ahLst/>
              <a:cxnLst/>
              <a:rect r="r" b="b" t="t" l="l"/>
              <a:pathLst>
                <a:path h="1337059" w="3848259">
                  <a:moveTo>
                    <a:pt x="0" y="0"/>
                  </a:moveTo>
                  <a:lnTo>
                    <a:pt x="3848260" y="0"/>
                  </a:lnTo>
                  <a:lnTo>
                    <a:pt x="3848260" y="1337059"/>
                  </a:lnTo>
                  <a:lnTo>
                    <a:pt x="0" y="1337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99219" y="4381045"/>
              <a:ext cx="430697" cy="430697"/>
            </a:xfrm>
            <a:custGeom>
              <a:avLst/>
              <a:gdLst/>
              <a:ahLst/>
              <a:cxnLst/>
              <a:rect r="r" b="b" t="t" l="l"/>
              <a:pathLst>
                <a:path h="430697" w="430697">
                  <a:moveTo>
                    <a:pt x="0" y="0"/>
                  </a:moveTo>
                  <a:lnTo>
                    <a:pt x="430697" y="0"/>
                  </a:lnTo>
                  <a:lnTo>
                    <a:pt x="430697" y="430697"/>
                  </a:lnTo>
                  <a:lnTo>
                    <a:pt x="0" y="4306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72792" y="2270189"/>
              <a:ext cx="3577831" cy="14571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I used here bcrypt for hashing the password &amp; maintained users by sql table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095016" y="4400577"/>
              <a:ext cx="2655607" cy="363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84"/>
                </a:lnSpc>
              </a:pPr>
              <a:r>
                <a:rPr lang="en-US" b="true" sz="170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Step 1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714567" y="1289714"/>
              <a:ext cx="2494279" cy="352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0"/>
                </a:lnSpc>
              </a:pPr>
              <a:r>
                <a:rPr lang="en-US" b="true" sz="16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Login Credentials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310085" y="3682975"/>
            <a:ext cx="2942560" cy="3937025"/>
            <a:chOff x="0" y="0"/>
            <a:chExt cx="3923414" cy="5249367"/>
          </a:xfrm>
        </p:grpSpPr>
        <p:grpSp>
          <p:nvGrpSpPr>
            <p:cNvPr name="Group 15" id="15"/>
            <p:cNvGrpSpPr/>
            <p:nvPr/>
          </p:nvGrpSpPr>
          <p:grpSpPr>
            <a:xfrm rot="-10800000">
              <a:off x="0" y="46189"/>
              <a:ext cx="3923414" cy="4539470"/>
              <a:chOff x="0" y="0"/>
              <a:chExt cx="520700" cy="60246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20700" cy="593949"/>
              </a:xfrm>
              <a:custGeom>
                <a:avLst/>
                <a:gdLst/>
                <a:ahLst/>
                <a:cxnLst/>
                <a:rect r="r" b="b" t="t" l="l"/>
                <a:pathLst>
                  <a:path h="593949" w="520700">
                    <a:moveTo>
                      <a:pt x="0" y="23597"/>
                    </a:moveTo>
                    <a:lnTo>
                      <a:pt x="0" y="362964"/>
                    </a:lnTo>
                    <a:cubicBezTo>
                      <a:pt x="0" y="377911"/>
                      <a:pt x="6658" y="392082"/>
                      <a:pt x="18164" y="401623"/>
                    </a:cubicBezTo>
                    <a:lnTo>
                      <a:pt x="242186" y="587398"/>
                    </a:lnTo>
                    <a:cubicBezTo>
                      <a:pt x="252720" y="596133"/>
                      <a:pt x="267980" y="596133"/>
                      <a:pt x="278514" y="587398"/>
                    </a:cubicBezTo>
                    <a:lnTo>
                      <a:pt x="502536" y="401623"/>
                    </a:lnTo>
                    <a:cubicBezTo>
                      <a:pt x="514042" y="392082"/>
                      <a:pt x="520700" y="377911"/>
                      <a:pt x="520700" y="362964"/>
                    </a:cubicBezTo>
                    <a:lnTo>
                      <a:pt x="520700" y="23597"/>
                    </a:lnTo>
                    <a:cubicBezTo>
                      <a:pt x="520700" y="17339"/>
                      <a:pt x="518214" y="11337"/>
                      <a:pt x="513789" y="6911"/>
                    </a:cubicBezTo>
                    <a:cubicBezTo>
                      <a:pt x="509363" y="2486"/>
                      <a:pt x="503361" y="0"/>
                      <a:pt x="497103" y="0"/>
                    </a:cubicBezTo>
                    <a:lnTo>
                      <a:pt x="23597" y="0"/>
                    </a:lnTo>
                    <a:cubicBezTo>
                      <a:pt x="17339" y="0"/>
                      <a:pt x="11337" y="2486"/>
                      <a:pt x="6911" y="6911"/>
                    </a:cubicBezTo>
                    <a:cubicBezTo>
                      <a:pt x="2486" y="11337"/>
                      <a:pt x="0" y="17339"/>
                      <a:pt x="0" y="2359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2700"/>
                <a:ext cx="520700" cy="3865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1780990" y="0"/>
              <a:ext cx="361433" cy="361433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CC91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0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1" id="21"/>
            <p:cNvSpPr/>
            <p:nvPr/>
          </p:nvSpPr>
          <p:spPr>
            <a:xfrm flipH="false" flipV="false" rot="0">
              <a:off x="37577" y="3912307"/>
              <a:ext cx="3848259" cy="1337059"/>
            </a:xfrm>
            <a:custGeom>
              <a:avLst/>
              <a:gdLst/>
              <a:ahLst/>
              <a:cxnLst/>
              <a:rect r="r" b="b" t="t" l="l"/>
              <a:pathLst>
                <a:path h="1337059" w="3848259">
                  <a:moveTo>
                    <a:pt x="0" y="0"/>
                  </a:moveTo>
                  <a:lnTo>
                    <a:pt x="3848260" y="0"/>
                  </a:lnTo>
                  <a:lnTo>
                    <a:pt x="3848260" y="1337060"/>
                  </a:lnTo>
                  <a:lnTo>
                    <a:pt x="0" y="1337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453497" y="4319766"/>
              <a:ext cx="522142" cy="522142"/>
            </a:xfrm>
            <a:custGeom>
              <a:avLst/>
              <a:gdLst/>
              <a:ahLst/>
              <a:cxnLst/>
              <a:rect r="r" b="b" t="t" l="l"/>
              <a:pathLst>
                <a:path h="522142" w="522142">
                  <a:moveTo>
                    <a:pt x="0" y="0"/>
                  </a:moveTo>
                  <a:lnTo>
                    <a:pt x="522141" y="0"/>
                  </a:lnTo>
                  <a:lnTo>
                    <a:pt x="522141" y="522142"/>
                  </a:lnTo>
                  <a:lnTo>
                    <a:pt x="0" y="522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 rot="0">
              <a:off x="1071998" y="4385021"/>
              <a:ext cx="2655607" cy="363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84"/>
                </a:lnSpc>
              </a:pPr>
              <a:r>
                <a:rPr lang="en-US" b="true" sz="1703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Step 2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172792" y="2315925"/>
              <a:ext cx="3577831" cy="10888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Simlessly drop email from 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Outlook Or Copy paste mail</a:t>
              </a:r>
            </a:p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content in textbox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714567" y="1335451"/>
              <a:ext cx="2494279" cy="3522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0"/>
                </a:lnSpc>
              </a:pPr>
              <a:r>
                <a:rPr lang="en-US" b="true" sz="16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Email Drag &amp; Drop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671745" y="2672834"/>
            <a:ext cx="2942560" cy="3925357"/>
            <a:chOff x="0" y="0"/>
            <a:chExt cx="3923414" cy="5233810"/>
          </a:xfrm>
        </p:grpSpPr>
        <p:grpSp>
          <p:nvGrpSpPr>
            <p:cNvPr name="Group 27" id="27"/>
            <p:cNvGrpSpPr/>
            <p:nvPr/>
          </p:nvGrpSpPr>
          <p:grpSpPr>
            <a:xfrm rot="-10800000">
              <a:off x="0" y="37152"/>
              <a:ext cx="3923414" cy="4539470"/>
              <a:chOff x="0" y="0"/>
              <a:chExt cx="520700" cy="602461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520700" cy="593949"/>
              </a:xfrm>
              <a:custGeom>
                <a:avLst/>
                <a:gdLst/>
                <a:ahLst/>
                <a:cxnLst/>
                <a:rect r="r" b="b" t="t" l="l"/>
                <a:pathLst>
                  <a:path h="593949" w="520700">
                    <a:moveTo>
                      <a:pt x="0" y="23597"/>
                    </a:moveTo>
                    <a:lnTo>
                      <a:pt x="0" y="362964"/>
                    </a:lnTo>
                    <a:cubicBezTo>
                      <a:pt x="0" y="377911"/>
                      <a:pt x="6658" y="392082"/>
                      <a:pt x="18164" y="401623"/>
                    </a:cubicBezTo>
                    <a:lnTo>
                      <a:pt x="242186" y="587398"/>
                    </a:lnTo>
                    <a:cubicBezTo>
                      <a:pt x="252720" y="596133"/>
                      <a:pt x="267980" y="596133"/>
                      <a:pt x="278514" y="587398"/>
                    </a:cubicBezTo>
                    <a:lnTo>
                      <a:pt x="502536" y="401623"/>
                    </a:lnTo>
                    <a:cubicBezTo>
                      <a:pt x="514042" y="392082"/>
                      <a:pt x="520700" y="377911"/>
                      <a:pt x="520700" y="362964"/>
                    </a:cubicBezTo>
                    <a:lnTo>
                      <a:pt x="520700" y="23597"/>
                    </a:lnTo>
                    <a:cubicBezTo>
                      <a:pt x="520700" y="17339"/>
                      <a:pt x="518214" y="11337"/>
                      <a:pt x="513789" y="6911"/>
                    </a:cubicBezTo>
                    <a:cubicBezTo>
                      <a:pt x="509363" y="2486"/>
                      <a:pt x="503361" y="0"/>
                      <a:pt x="497103" y="0"/>
                    </a:cubicBezTo>
                    <a:lnTo>
                      <a:pt x="23597" y="0"/>
                    </a:lnTo>
                    <a:cubicBezTo>
                      <a:pt x="17339" y="0"/>
                      <a:pt x="11337" y="2486"/>
                      <a:pt x="6911" y="6911"/>
                    </a:cubicBezTo>
                    <a:cubicBezTo>
                      <a:pt x="2486" y="11337"/>
                      <a:pt x="0" y="17339"/>
                      <a:pt x="0" y="2359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12700"/>
                <a:ext cx="520700" cy="3865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1780990" y="0"/>
              <a:ext cx="361433" cy="361433"/>
              <a:chOff x="0" y="0"/>
              <a:chExt cx="812800" cy="8128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A7BF"/>
              </a:solid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0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33" id="33"/>
            <p:cNvSpPr/>
            <p:nvPr/>
          </p:nvSpPr>
          <p:spPr>
            <a:xfrm flipH="false" flipV="false" rot="0">
              <a:off x="37577" y="3896751"/>
              <a:ext cx="3848259" cy="1337059"/>
            </a:xfrm>
            <a:custGeom>
              <a:avLst/>
              <a:gdLst/>
              <a:ahLst/>
              <a:cxnLst/>
              <a:rect r="r" b="b" t="t" l="l"/>
              <a:pathLst>
                <a:path h="1337059" w="3848259">
                  <a:moveTo>
                    <a:pt x="0" y="0"/>
                  </a:moveTo>
                  <a:lnTo>
                    <a:pt x="3848260" y="0"/>
                  </a:lnTo>
                  <a:lnTo>
                    <a:pt x="3848260" y="1337059"/>
                  </a:lnTo>
                  <a:lnTo>
                    <a:pt x="0" y="1337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473359" y="4244834"/>
              <a:ext cx="482417" cy="640892"/>
            </a:xfrm>
            <a:custGeom>
              <a:avLst/>
              <a:gdLst/>
              <a:ahLst/>
              <a:cxnLst/>
              <a:rect r="r" b="b" t="t" l="l"/>
              <a:pathLst>
                <a:path h="640892" w="482417">
                  <a:moveTo>
                    <a:pt x="0" y="0"/>
                  </a:moveTo>
                  <a:lnTo>
                    <a:pt x="482417" y="0"/>
                  </a:lnTo>
                  <a:lnTo>
                    <a:pt x="482417" y="640892"/>
                  </a:lnTo>
                  <a:lnTo>
                    <a:pt x="0" y="6408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 rot="0">
              <a:off x="1095016" y="4369464"/>
              <a:ext cx="2655607" cy="363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84"/>
                </a:lnSpc>
              </a:pPr>
              <a:r>
                <a:rPr lang="en-US" b="true" sz="1703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Step 3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172792" y="2246136"/>
              <a:ext cx="3577831" cy="14571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Using Spacy(NER) model ,</a:t>
              </a:r>
              <a:r>
                <a:rPr lang="en-US" sz="16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 other regex patterns and listing method extract the entities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714567" y="1265661"/>
              <a:ext cx="2494279" cy="720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0"/>
                </a:lnSpc>
              </a:pPr>
              <a:r>
                <a:rPr lang="en-US" sz="1600" b="true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Ticker &amp; Org Name</a:t>
              </a:r>
            </a:p>
            <a:p>
              <a:pPr algn="ctr">
                <a:lnSpc>
                  <a:spcPts val="2240"/>
                </a:lnSpc>
              </a:pPr>
              <a:r>
                <a:rPr lang="en-US" b="true" sz="16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Extraction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1031368" y="3694643"/>
            <a:ext cx="2942560" cy="3913690"/>
            <a:chOff x="0" y="0"/>
            <a:chExt cx="3923414" cy="5218253"/>
          </a:xfrm>
        </p:grpSpPr>
        <p:grpSp>
          <p:nvGrpSpPr>
            <p:cNvPr name="Group 39" id="39"/>
            <p:cNvGrpSpPr/>
            <p:nvPr/>
          </p:nvGrpSpPr>
          <p:grpSpPr>
            <a:xfrm rot="-10800000">
              <a:off x="0" y="28115"/>
              <a:ext cx="3923414" cy="4539470"/>
              <a:chOff x="0" y="0"/>
              <a:chExt cx="520700" cy="602461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520700" cy="593949"/>
              </a:xfrm>
              <a:custGeom>
                <a:avLst/>
                <a:gdLst/>
                <a:ahLst/>
                <a:cxnLst/>
                <a:rect r="r" b="b" t="t" l="l"/>
                <a:pathLst>
                  <a:path h="593949" w="520700">
                    <a:moveTo>
                      <a:pt x="0" y="23597"/>
                    </a:moveTo>
                    <a:lnTo>
                      <a:pt x="0" y="362964"/>
                    </a:lnTo>
                    <a:cubicBezTo>
                      <a:pt x="0" y="377911"/>
                      <a:pt x="6658" y="392082"/>
                      <a:pt x="18164" y="401623"/>
                    </a:cubicBezTo>
                    <a:lnTo>
                      <a:pt x="242186" y="587398"/>
                    </a:lnTo>
                    <a:cubicBezTo>
                      <a:pt x="252720" y="596133"/>
                      <a:pt x="267980" y="596133"/>
                      <a:pt x="278514" y="587398"/>
                    </a:cubicBezTo>
                    <a:lnTo>
                      <a:pt x="502536" y="401623"/>
                    </a:lnTo>
                    <a:cubicBezTo>
                      <a:pt x="514042" y="392082"/>
                      <a:pt x="520700" y="377911"/>
                      <a:pt x="520700" y="362964"/>
                    </a:cubicBezTo>
                    <a:lnTo>
                      <a:pt x="520700" y="23597"/>
                    </a:lnTo>
                    <a:cubicBezTo>
                      <a:pt x="520700" y="17339"/>
                      <a:pt x="518214" y="11337"/>
                      <a:pt x="513789" y="6911"/>
                    </a:cubicBezTo>
                    <a:cubicBezTo>
                      <a:pt x="509363" y="2486"/>
                      <a:pt x="503361" y="0"/>
                      <a:pt x="497103" y="0"/>
                    </a:cubicBezTo>
                    <a:lnTo>
                      <a:pt x="23597" y="0"/>
                    </a:lnTo>
                    <a:cubicBezTo>
                      <a:pt x="17339" y="0"/>
                      <a:pt x="11337" y="2486"/>
                      <a:pt x="6911" y="6911"/>
                    </a:cubicBezTo>
                    <a:cubicBezTo>
                      <a:pt x="2486" y="11337"/>
                      <a:pt x="0" y="17339"/>
                      <a:pt x="0" y="2359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12700"/>
                <a:ext cx="520700" cy="3865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1780990" y="0"/>
              <a:ext cx="361433" cy="361433"/>
              <a:chOff x="0" y="0"/>
              <a:chExt cx="812800" cy="8128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85E0"/>
              </a:solidFill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Freeform 45" id="45"/>
            <p:cNvSpPr/>
            <p:nvPr/>
          </p:nvSpPr>
          <p:spPr>
            <a:xfrm flipH="false" flipV="false" rot="0">
              <a:off x="37577" y="3881194"/>
              <a:ext cx="3848259" cy="1337059"/>
            </a:xfrm>
            <a:custGeom>
              <a:avLst/>
              <a:gdLst/>
              <a:ahLst/>
              <a:cxnLst/>
              <a:rect r="r" b="b" t="t" l="l"/>
              <a:pathLst>
                <a:path h="1337059" w="3848259">
                  <a:moveTo>
                    <a:pt x="0" y="0"/>
                  </a:moveTo>
                  <a:lnTo>
                    <a:pt x="3848260" y="0"/>
                  </a:lnTo>
                  <a:lnTo>
                    <a:pt x="3848260" y="1337059"/>
                  </a:lnTo>
                  <a:lnTo>
                    <a:pt x="0" y="1337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399212" y="4283008"/>
              <a:ext cx="517914" cy="533432"/>
            </a:xfrm>
            <a:custGeom>
              <a:avLst/>
              <a:gdLst/>
              <a:ahLst/>
              <a:cxnLst/>
              <a:rect r="r" b="b" t="t" l="l"/>
              <a:pathLst>
                <a:path h="533432" w="517914">
                  <a:moveTo>
                    <a:pt x="0" y="0"/>
                  </a:moveTo>
                  <a:lnTo>
                    <a:pt x="517914" y="0"/>
                  </a:lnTo>
                  <a:lnTo>
                    <a:pt x="517914" y="533432"/>
                  </a:lnTo>
                  <a:lnTo>
                    <a:pt x="0" y="533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 rot="0">
              <a:off x="1095016" y="4353907"/>
              <a:ext cx="2655607" cy="363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84"/>
                </a:lnSpc>
              </a:pPr>
              <a:r>
                <a:rPr lang="en-US" b="true" sz="1703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Step 4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172792" y="2055781"/>
              <a:ext cx="3577831" cy="18254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Created Normalized log table for effient history storeage  &amp; taking confimation from user to avoid missing values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714567" y="1260066"/>
              <a:ext cx="2494279" cy="720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0"/>
                </a:lnSpc>
              </a:pPr>
              <a:r>
                <a:rPr lang="en-US" b="true" sz="16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Logs &amp; user confirmation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4390990" y="4950721"/>
            <a:ext cx="2942560" cy="3806773"/>
            <a:chOff x="0" y="0"/>
            <a:chExt cx="3923414" cy="5075697"/>
          </a:xfrm>
        </p:grpSpPr>
        <p:grpSp>
          <p:nvGrpSpPr>
            <p:cNvPr name="Group 51" id="51"/>
            <p:cNvGrpSpPr/>
            <p:nvPr/>
          </p:nvGrpSpPr>
          <p:grpSpPr>
            <a:xfrm rot="-10800000">
              <a:off x="0" y="34938"/>
              <a:ext cx="3923414" cy="4539470"/>
              <a:chOff x="0" y="0"/>
              <a:chExt cx="520700" cy="602461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520700" cy="593949"/>
              </a:xfrm>
              <a:custGeom>
                <a:avLst/>
                <a:gdLst/>
                <a:ahLst/>
                <a:cxnLst/>
                <a:rect r="r" b="b" t="t" l="l"/>
                <a:pathLst>
                  <a:path h="593949" w="520700">
                    <a:moveTo>
                      <a:pt x="0" y="23597"/>
                    </a:moveTo>
                    <a:lnTo>
                      <a:pt x="0" y="362964"/>
                    </a:lnTo>
                    <a:cubicBezTo>
                      <a:pt x="0" y="377911"/>
                      <a:pt x="6658" y="392082"/>
                      <a:pt x="18164" y="401623"/>
                    </a:cubicBezTo>
                    <a:lnTo>
                      <a:pt x="242186" y="587398"/>
                    </a:lnTo>
                    <a:cubicBezTo>
                      <a:pt x="252720" y="596133"/>
                      <a:pt x="267980" y="596133"/>
                      <a:pt x="278514" y="587398"/>
                    </a:cubicBezTo>
                    <a:lnTo>
                      <a:pt x="502536" y="401623"/>
                    </a:lnTo>
                    <a:cubicBezTo>
                      <a:pt x="514042" y="392082"/>
                      <a:pt x="520700" y="377911"/>
                      <a:pt x="520700" y="362964"/>
                    </a:cubicBezTo>
                    <a:lnTo>
                      <a:pt x="520700" y="23597"/>
                    </a:lnTo>
                    <a:cubicBezTo>
                      <a:pt x="520700" y="17339"/>
                      <a:pt x="518214" y="11337"/>
                      <a:pt x="513789" y="6911"/>
                    </a:cubicBezTo>
                    <a:cubicBezTo>
                      <a:pt x="509363" y="2486"/>
                      <a:pt x="503361" y="0"/>
                      <a:pt x="497103" y="0"/>
                    </a:cubicBezTo>
                    <a:lnTo>
                      <a:pt x="23597" y="0"/>
                    </a:lnTo>
                    <a:cubicBezTo>
                      <a:pt x="17339" y="0"/>
                      <a:pt x="11337" y="2486"/>
                      <a:pt x="6911" y="6911"/>
                    </a:cubicBezTo>
                    <a:cubicBezTo>
                      <a:pt x="2486" y="11337"/>
                      <a:pt x="0" y="17339"/>
                      <a:pt x="0" y="23597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12700"/>
                <a:ext cx="520700" cy="38656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54" id="54"/>
            <p:cNvGrpSpPr/>
            <p:nvPr/>
          </p:nvGrpSpPr>
          <p:grpSpPr>
            <a:xfrm rot="0">
              <a:off x="1780990" y="0"/>
              <a:ext cx="361433" cy="361433"/>
              <a:chOff x="0" y="0"/>
              <a:chExt cx="812800" cy="8128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D65DA"/>
              </a:solidFill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40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57" id="57"/>
            <p:cNvSpPr/>
            <p:nvPr/>
          </p:nvSpPr>
          <p:spPr>
            <a:xfrm flipH="false" flipV="false" rot="0">
              <a:off x="37577" y="3738637"/>
              <a:ext cx="3848259" cy="1337059"/>
            </a:xfrm>
            <a:custGeom>
              <a:avLst/>
              <a:gdLst/>
              <a:ahLst/>
              <a:cxnLst/>
              <a:rect r="r" b="b" t="t" l="l"/>
              <a:pathLst>
                <a:path h="1337059" w="3848259">
                  <a:moveTo>
                    <a:pt x="0" y="0"/>
                  </a:moveTo>
                  <a:lnTo>
                    <a:pt x="3848260" y="0"/>
                  </a:lnTo>
                  <a:lnTo>
                    <a:pt x="3848260" y="1337060"/>
                  </a:lnTo>
                  <a:lnTo>
                    <a:pt x="0" y="1337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446954" y="4202419"/>
              <a:ext cx="535227" cy="460295"/>
            </a:xfrm>
            <a:custGeom>
              <a:avLst/>
              <a:gdLst/>
              <a:ahLst/>
              <a:cxnLst/>
              <a:rect r="r" b="b" t="t" l="l"/>
              <a:pathLst>
                <a:path h="460295" w="535227">
                  <a:moveTo>
                    <a:pt x="0" y="0"/>
                  </a:moveTo>
                  <a:lnTo>
                    <a:pt x="535227" y="0"/>
                  </a:lnTo>
                  <a:lnTo>
                    <a:pt x="535227" y="460296"/>
                  </a:lnTo>
                  <a:lnTo>
                    <a:pt x="0" y="4602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 rot="0">
              <a:off x="1095016" y="4211351"/>
              <a:ext cx="2655607" cy="3630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84"/>
                </a:lnSpc>
              </a:pPr>
              <a:r>
                <a:rPr lang="en-US" b="true" sz="1703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Step 5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172792" y="2167079"/>
              <a:ext cx="3577831" cy="10888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0"/>
                </a:lnSpc>
              </a:pPr>
              <a:r>
                <a:rPr lang="en-US" sz="1600">
                  <a:solidFill>
                    <a:srgbClr val="000000"/>
                  </a:solidFill>
                  <a:latin typeface="DM Sans"/>
                  <a:ea typeface="DM Sans"/>
                  <a:cs typeface="DM Sans"/>
                  <a:sym typeface="DM Sans"/>
                </a:rPr>
                <a:t>Based on the given input.json classifying the ticker and getting details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714567" y="1186605"/>
              <a:ext cx="2494279" cy="7205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40"/>
                </a:lnSpc>
              </a:pPr>
              <a:r>
                <a:rPr lang="en-US" b="true" sz="16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Ticker Classifcation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3810000" y="876300"/>
            <a:ext cx="10858500" cy="61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b="true" sz="35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Lead Generation Framework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3810000" y="1604095"/>
            <a:ext cx="108585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Strategic approach to capturing and converting quality prospects effectively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67141">
            <a:off x="5832536" y="2708680"/>
            <a:ext cx="6223648" cy="6223648"/>
          </a:xfrm>
          <a:custGeom>
            <a:avLst/>
            <a:gdLst/>
            <a:ahLst/>
            <a:cxnLst/>
            <a:rect r="r" b="b" t="t" l="l"/>
            <a:pathLst>
              <a:path h="6223648" w="6223648">
                <a:moveTo>
                  <a:pt x="0" y="0"/>
                </a:moveTo>
                <a:lnTo>
                  <a:pt x="6223647" y="0"/>
                </a:lnTo>
                <a:lnTo>
                  <a:pt x="6223647" y="6223648"/>
                </a:lnTo>
                <a:lnTo>
                  <a:pt x="0" y="622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18590" y="7790342"/>
            <a:ext cx="5248550" cy="1374166"/>
          </a:xfrm>
          <a:custGeom>
            <a:avLst/>
            <a:gdLst/>
            <a:ahLst/>
            <a:cxnLst/>
            <a:rect r="r" b="b" t="t" l="l"/>
            <a:pathLst>
              <a:path h="1374166" w="5248550">
                <a:moveTo>
                  <a:pt x="0" y="0"/>
                </a:moveTo>
                <a:lnTo>
                  <a:pt x="5248551" y="0"/>
                </a:lnTo>
                <a:lnTo>
                  <a:pt x="5248551" y="1374166"/>
                </a:lnTo>
                <a:lnTo>
                  <a:pt x="0" y="13741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4000"/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18590" y="7206483"/>
            <a:ext cx="379791" cy="1095155"/>
            <a:chOff x="0" y="0"/>
            <a:chExt cx="100027" cy="2884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027" cy="288436"/>
            </a:xfrm>
            <a:custGeom>
              <a:avLst/>
              <a:gdLst/>
              <a:ahLst/>
              <a:cxnLst/>
              <a:rect r="r" b="b" t="t" l="l"/>
              <a:pathLst>
                <a:path h="288436" w="100027">
                  <a:moveTo>
                    <a:pt x="50014" y="0"/>
                  </a:moveTo>
                  <a:lnTo>
                    <a:pt x="50014" y="0"/>
                  </a:lnTo>
                  <a:cubicBezTo>
                    <a:pt x="77635" y="0"/>
                    <a:pt x="100027" y="22392"/>
                    <a:pt x="100027" y="50014"/>
                  </a:cubicBezTo>
                  <a:lnTo>
                    <a:pt x="100027" y="238422"/>
                  </a:lnTo>
                  <a:cubicBezTo>
                    <a:pt x="100027" y="266044"/>
                    <a:pt x="77635" y="288436"/>
                    <a:pt x="50014" y="288436"/>
                  </a:cubicBezTo>
                  <a:lnTo>
                    <a:pt x="50014" y="288436"/>
                  </a:lnTo>
                  <a:cubicBezTo>
                    <a:pt x="22392" y="288436"/>
                    <a:pt x="0" y="266044"/>
                    <a:pt x="0" y="238422"/>
                  </a:cubicBezTo>
                  <a:lnTo>
                    <a:pt x="0" y="50014"/>
                  </a:lnTo>
                  <a:cubicBezTo>
                    <a:pt x="0" y="22392"/>
                    <a:pt x="22392" y="0"/>
                    <a:pt x="50014" y="0"/>
                  </a:cubicBezTo>
                  <a:close/>
                </a:path>
              </a:pathLst>
            </a:custGeom>
            <a:solidFill>
              <a:srgbClr val="4A51B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0027" cy="326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778508" y="6779499"/>
            <a:ext cx="4928715" cy="1949123"/>
            <a:chOff x="0" y="0"/>
            <a:chExt cx="1298098" cy="5133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98098" cy="513349"/>
            </a:xfrm>
            <a:custGeom>
              <a:avLst/>
              <a:gdLst/>
              <a:ahLst/>
              <a:cxnLst/>
              <a:rect r="r" b="b" t="t" l="l"/>
              <a:pathLst>
                <a:path h="513349" w="1298098">
                  <a:moveTo>
                    <a:pt x="34557" y="0"/>
                  </a:moveTo>
                  <a:lnTo>
                    <a:pt x="1263541" y="0"/>
                  </a:lnTo>
                  <a:cubicBezTo>
                    <a:pt x="1282626" y="0"/>
                    <a:pt x="1298098" y="15472"/>
                    <a:pt x="1298098" y="34557"/>
                  </a:cubicBezTo>
                  <a:lnTo>
                    <a:pt x="1298098" y="478792"/>
                  </a:lnTo>
                  <a:cubicBezTo>
                    <a:pt x="1298098" y="487957"/>
                    <a:pt x="1294457" y="496747"/>
                    <a:pt x="1287976" y="503228"/>
                  </a:cubicBezTo>
                  <a:cubicBezTo>
                    <a:pt x="1281496" y="509708"/>
                    <a:pt x="1272706" y="513349"/>
                    <a:pt x="1263541" y="513349"/>
                  </a:cubicBezTo>
                  <a:lnTo>
                    <a:pt x="34557" y="513349"/>
                  </a:lnTo>
                  <a:cubicBezTo>
                    <a:pt x="15472" y="513349"/>
                    <a:pt x="0" y="497878"/>
                    <a:pt x="0" y="478792"/>
                  </a:cubicBezTo>
                  <a:lnTo>
                    <a:pt x="0" y="34557"/>
                  </a:lnTo>
                  <a:cubicBezTo>
                    <a:pt x="0" y="15472"/>
                    <a:pt x="15472" y="0"/>
                    <a:pt x="345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98098" cy="551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-5400000">
            <a:off x="1792873" y="7032200"/>
            <a:ext cx="945055" cy="1293620"/>
            <a:chOff x="0" y="0"/>
            <a:chExt cx="416123" cy="5696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6123" cy="569602"/>
            </a:xfrm>
            <a:custGeom>
              <a:avLst/>
              <a:gdLst/>
              <a:ahLst/>
              <a:cxnLst/>
              <a:rect r="r" b="b" t="t" l="l"/>
              <a:pathLst>
                <a:path h="569602" w="416123">
                  <a:moveTo>
                    <a:pt x="416123" y="48861"/>
                  </a:moveTo>
                  <a:lnTo>
                    <a:pt x="416123" y="400692"/>
                  </a:lnTo>
                  <a:lnTo>
                    <a:pt x="208062" y="569602"/>
                  </a:lnTo>
                  <a:lnTo>
                    <a:pt x="0" y="400692"/>
                  </a:lnTo>
                  <a:lnTo>
                    <a:pt x="0" y="48861"/>
                  </a:lnTo>
                  <a:cubicBezTo>
                    <a:pt x="0" y="22860"/>
                    <a:pt x="24967" y="0"/>
                    <a:pt x="54096" y="0"/>
                  </a:cubicBezTo>
                  <a:lnTo>
                    <a:pt x="362027" y="0"/>
                  </a:lnTo>
                  <a:cubicBezTo>
                    <a:pt x="391156" y="0"/>
                    <a:pt x="416123" y="22860"/>
                    <a:pt x="416123" y="48861"/>
                  </a:cubicBezTo>
                  <a:close/>
                </a:path>
              </a:pathLst>
            </a:custGeom>
            <a:solidFill>
              <a:srgbClr val="5D65D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16123" cy="431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18590" y="3803048"/>
            <a:ext cx="5248550" cy="1374166"/>
          </a:xfrm>
          <a:custGeom>
            <a:avLst/>
            <a:gdLst/>
            <a:ahLst/>
            <a:cxnLst/>
            <a:rect r="r" b="b" t="t" l="l"/>
            <a:pathLst>
              <a:path h="1374166" w="5248550">
                <a:moveTo>
                  <a:pt x="0" y="0"/>
                </a:moveTo>
                <a:lnTo>
                  <a:pt x="5248551" y="0"/>
                </a:lnTo>
                <a:lnTo>
                  <a:pt x="5248551" y="1374166"/>
                </a:lnTo>
                <a:lnTo>
                  <a:pt x="0" y="13741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4000"/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618590" y="3219189"/>
            <a:ext cx="379791" cy="1095155"/>
            <a:chOff x="0" y="0"/>
            <a:chExt cx="100027" cy="2884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0027" cy="288436"/>
            </a:xfrm>
            <a:custGeom>
              <a:avLst/>
              <a:gdLst/>
              <a:ahLst/>
              <a:cxnLst/>
              <a:rect r="r" b="b" t="t" l="l"/>
              <a:pathLst>
                <a:path h="288436" w="100027">
                  <a:moveTo>
                    <a:pt x="50014" y="0"/>
                  </a:moveTo>
                  <a:lnTo>
                    <a:pt x="50014" y="0"/>
                  </a:lnTo>
                  <a:cubicBezTo>
                    <a:pt x="77635" y="0"/>
                    <a:pt x="100027" y="22392"/>
                    <a:pt x="100027" y="50014"/>
                  </a:cubicBezTo>
                  <a:lnTo>
                    <a:pt x="100027" y="238422"/>
                  </a:lnTo>
                  <a:cubicBezTo>
                    <a:pt x="100027" y="266044"/>
                    <a:pt x="77635" y="288436"/>
                    <a:pt x="50014" y="288436"/>
                  </a:cubicBezTo>
                  <a:lnTo>
                    <a:pt x="50014" y="288436"/>
                  </a:lnTo>
                  <a:cubicBezTo>
                    <a:pt x="22392" y="288436"/>
                    <a:pt x="0" y="266044"/>
                    <a:pt x="0" y="238422"/>
                  </a:cubicBezTo>
                  <a:lnTo>
                    <a:pt x="0" y="50014"/>
                  </a:lnTo>
                  <a:cubicBezTo>
                    <a:pt x="0" y="22392"/>
                    <a:pt x="22392" y="0"/>
                    <a:pt x="50014" y="0"/>
                  </a:cubicBezTo>
                  <a:close/>
                </a:path>
              </a:pathLst>
            </a:custGeom>
            <a:solidFill>
              <a:srgbClr val="80AE0C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0027" cy="326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78508" y="2792205"/>
            <a:ext cx="4928715" cy="1949123"/>
            <a:chOff x="0" y="0"/>
            <a:chExt cx="1298098" cy="51334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98098" cy="513349"/>
            </a:xfrm>
            <a:custGeom>
              <a:avLst/>
              <a:gdLst/>
              <a:ahLst/>
              <a:cxnLst/>
              <a:rect r="r" b="b" t="t" l="l"/>
              <a:pathLst>
                <a:path h="513349" w="1298098">
                  <a:moveTo>
                    <a:pt x="34557" y="0"/>
                  </a:moveTo>
                  <a:lnTo>
                    <a:pt x="1263541" y="0"/>
                  </a:lnTo>
                  <a:cubicBezTo>
                    <a:pt x="1282626" y="0"/>
                    <a:pt x="1298098" y="15472"/>
                    <a:pt x="1298098" y="34557"/>
                  </a:cubicBezTo>
                  <a:lnTo>
                    <a:pt x="1298098" y="478792"/>
                  </a:lnTo>
                  <a:cubicBezTo>
                    <a:pt x="1298098" y="487957"/>
                    <a:pt x="1294457" y="496747"/>
                    <a:pt x="1287976" y="503228"/>
                  </a:cubicBezTo>
                  <a:cubicBezTo>
                    <a:pt x="1281496" y="509708"/>
                    <a:pt x="1272706" y="513349"/>
                    <a:pt x="1263541" y="513349"/>
                  </a:cubicBezTo>
                  <a:lnTo>
                    <a:pt x="34557" y="513349"/>
                  </a:lnTo>
                  <a:cubicBezTo>
                    <a:pt x="15472" y="513349"/>
                    <a:pt x="0" y="497878"/>
                    <a:pt x="0" y="478792"/>
                  </a:cubicBezTo>
                  <a:lnTo>
                    <a:pt x="0" y="34557"/>
                  </a:lnTo>
                  <a:cubicBezTo>
                    <a:pt x="0" y="15472"/>
                    <a:pt x="15472" y="0"/>
                    <a:pt x="345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98098" cy="551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-5400000">
            <a:off x="1792873" y="3044907"/>
            <a:ext cx="945055" cy="1293620"/>
            <a:chOff x="0" y="0"/>
            <a:chExt cx="416123" cy="56960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6123" cy="569602"/>
            </a:xfrm>
            <a:custGeom>
              <a:avLst/>
              <a:gdLst/>
              <a:ahLst/>
              <a:cxnLst/>
              <a:rect r="r" b="b" t="t" l="l"/>
              <a:pathLst>
                <a:path h="569602" w="416123">
                  <a:moveTo>
                    <a:pt x="416123" y="48861"/>
                  </a:moveTo>
                  <a:lnTo>
                    <a:pt x="416123" y="400692"/>
                  </a:lnTo>
                  <a:lnTo>
                    <a:pt x="208062" y="569602"/>
                  </a:lnTo>
                  <a:lnTo>
                    <a:pt x="0" y="400692"/>
                  </a:lnTo>
                  <a:lnTo>
                    <a:pt x="0" y="48861"/>
                  </a:lnTo>
                  <a:cubicBezTo>
                    <a:pt x="0" y="22860"/>
                    <a:pt x="24967" y="0"/>
                    <a:pt x="54096" y="0"/>
                  </a:cubicBezTo>
                  <a:lnTo>
                    <a:pt x="362027" y="0"/>
                  </a:lnTo>
                  <a:cubicBezTo>
                    <a:pt x="391156" y="0"/>
                    <a:pt x="416123" y="22860"/>
                    <a:pt x="416123" y="48861"/>
                  </a:cubicBezTo>
                  <a:close/>
                </a:path>
              </a:pathLst>
            </a:custGeom>
            <a:solidFill>
              <a:srgbClr val="A6E017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16123" cy="431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-10800000">
            <a:off x="11420859" y="5674464"/>
            <a:ext cx="5248550" cy="1374166"/>
          </a:xfrm>
          <a:custGeom>
            <a:avLst/>
            <a:gdLst/>
            <a:ahLst/>
            <a:cxnLst/>
            <a:rect r="r" b="b" t="t" l="l"/>
            <a:pathLst>
              <a:path h="1374166" w="5248550">
                <a:moveTo>
                  <a:pt x="0" y="0"/>
                </a:moveTo>
                <a:lnTo>
                  <a:pt x="5248551" y="0"/>
                </a:lnTo>
                <a:lnTo>
                  <a:pt x="5248551" y="1374166"/>
                </a:lnTo>
                <a:lnTo>
                  <a:pt x="0" y="13741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4000"/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-10800000">
            <a:off x="16289619" y="5019362"/>
            <a:ext cx="379791" cy="1095155"/>
            <a:chOff x="0" y="0"/>
            <a:chExt cx="100027" cy="28843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027" cy="288436"/>
            </a:xfrm>
            <a:custGeom>
              <a:avLst/>
              <a:gdLst/>
              <a:ahLst/>
              <a:cxnLst/>
              <a:rect r="r" b="b" t="t" l="l"/>
              <a:pathLst>
                <a:path h="288436" w="100027">
                  <a:moveTo>
                    <a:pt x="50014" y="0"/>
                  </a:moveTo>
                  <a:lnTo>
                    <a:pt x="50014" y="0"/>
                  </a:lnTo>
                  <a:cubicBezTo>
                    <a:pt x="77635" y="0"/>
                    <a:pt x="100027" y="22392"/>
                    <a:pt x="100027" y="50014"/>
                  </a:cubicBezTo>
                  <a:lnTo>
                    <a:pt x="100027" y="238422"/>
                  </a:lnTo>
                  <a:cubicBezTo>
                    <a:pt x="100027" y="266044"/>
                    <a:pt x="77635" y="288436"/>
                    <a:pt x="50014" y="288436"/>
                  </a:cubicBezTo>
                  <a:lnTo>
                    <a:pt x="50014" y="288436"/>
                  </a:lnTo>
                  <a:cubicBezTo>
                    <a:pt x="22392" y="288436"/>
                    <a:pt x="0" y="266044"/>
                    <a:pt x="0" y="238422"/>
                  </a:cubicBezTo>
                  <a:lnTo>
                    <a:pt x="0" y="50014"/>
                  </a:lnTo>
                  <a:cubicBezTo>
                    <a:pt x="0" y="22392"/>
                    <a:pt x="22392" y="0"/>
                    <a:pt x="50014" y="0"/>
                  </a:cubicBezTo>
                  <a:close/>
                </a:path>
              </a:pathLst>
            </a:custGeom>
            <a:solidFill>
              <a:srgbClr val="067D77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0027" cy="3265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-10800000">
            <a:off x="11580777" y="4592378"/>
            <a:ext cx="4928715" cy="1949123"/>
            <a:chOff x="0" y="0"/>
            <a:chExt cx="1298098" cy="51334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98098" cy="513349"/>
            </a:xfrm>
            <a:custGeom>
              <a:avLst/>
              <a:gdLst/>
              <a:ahLst/>
              <a:cxnLst/>
              <a:rect r="r" b="b" t="t" l="l"/>
              <a:pathLst>
                <a:path h="513349" w="1298098">
                  <a:moveTo>
                    <a:pt x="34557" y="0"/>
                  </a:moveTo>
                  <a:lnTo>
                    <a:pt x="1263541" y="0"/>
                  </a:lnTo>
                  <a:cubicBezTo>
                    <a:pt x="1282626" y="0"/>
                    <a:pt x="1298098" y="15472"/>
                    <a:pt x="1298098" y="34557"/>
                  </a:cubicBezTo>
                  <a:lnTo>
                    <a:pt x="1298098" y="478792"/>
                  </a:lnTo>
                  <a:cubicBezTo>
                    <a:pt x="1298098" y="487957"/>
                    <a:pt x="1294457" y="496747"/>
                    <a:pt x="1287976" y="503228"/>
                  </a:cubicBezTo>
                  <a:cubicBezTo>
                    <a:pt x="1281496" y="509708"/>
                    <a:pt x="1272706" y="513349"/>
                    <a:pt x="1263541" y="513349"/>
                  </a:cubicBezTo>
                  <a:lnTo>
                    <a:pt x="34557" y="513349"/>
                  </a:lnTo>
                  <a:cubicBezTo>
                    <a:pt x="15472" y="513349"/>
                    <a:pt x="0" y="497878"/>
                    <a:pt x="0" y="478792"/>
                  </a:cubicBezTo>
                  <a:lnTo>
                    <a:pt x="0" y="34557"/>
                  </a:lnTo>
                  <a:cubicBezTo>
                    <a:pt x="0" y="15472"/>
                    <a:pt x="15472" y="0"/>
                    <a:pt x="3455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298098" cy="5514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5400000">
            <a:off x="15550072" y="4852524"/>
            <a:ext cx="945055" cy="1293620"/>
            <a:chOff x="0" y="0"/>
            <a:chExt cx="416123" cy="56960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16123" cy="569602"/>
            </a:xfrm>
            <a:custGeom>
              <a:avLst/>
              <a:gdLst/>
              <a:ahLst/>
              <a:cxnLst/>
              <a:rect r="r" b="b" t="t" l="l"/>
              <a:pathLst>
                <a:path h="569602" w="416123">
                  <a:moveTo>
                    <a:pt x="416123" y="48861"/>
                  </a:moveTo>
                  <a:lnTo>
                    <a:pt x="416123" y="400692"/>
                  </a:lnTo>
                  <a:lnTo>
                    <a:pt x="208062" y="569602"/>
                  </a:lnTo>
                  <a:lnTo>
                    <a:pt x="0" y="400692"/>
                  </a:lnTo>
                  <a:lnTo>
                    <a:pt x="0" y="48861"/>
                  </a:lnTo>
                  <a:cubicBezTo>
                    <a:pt x="0" y="22860"/>
                    <a:pt x="24967" y="0"/>
                    <a:pt x="54096" y="0"/>
                  </a:cubicBezTo>
                  <a:lnTo>
                    <a:pt x="362027" y="0"/>
                  </a:lnTo>
                  <a:cubicBezTo>
                    <a:pt x="391156" y="0"/>
                    <a:pt x="416123" y="22860"/>
                    <a:pt x="416123" y="48861"/>
                  </a:cubicBezTo>
                  <a:close/>
                </a:path>
              </a:pathLst>
            </a:custGeom>
            <a:solidFill>
              <a:srgbClr val="06B8B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416123" cy="431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7945213" y="3346619"/>
            <a:ext cx="683455" cy="709245"/>
          </a:xfrm>
          <a:custGeom>
            <a:avLst/>
            <a:gdLst/>
            <a:ahLst/>
            <a:cxnLst/>
            <a:rect r="r" b="b" t="t" l="l"/>
            <a:pathLst>
              <a:path h="709245" w="683455">
                <a:moveTo>
                  <a:pt x="0" y="0"/>
                </a:moveTo>
                <a:lnTo>
                  <a:pt x="683455" y="0"/>
                </a:lnTo>
                <a:lnTo>
                  <a:pt x="683455" y="709245"/>
                </a:lnTo>
                <a:lnTo>
                  <a:pt x="0" y="7092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0488404" y="6361547"/>
            <a:ext cx="689451" cy="689451"/>
          </a:xfrm>
          <a:custGeom>
            <a:avLst/>
            <a:gdLst/>
            <a:ahLst/>
            <a:cxnLst/>
            <a:rect r="r" b="b" t="t" l="l"/>
            <a:pathLst>
              <a:path h="689451" w="689451">
                <a:moveTo>
                  <a:pt x="0" y="0"/>
                </a:moveTo>
                <a:lnTo>
                  <a:pt x="689451" y="0"/>
                </a:lnTo>
                <a:lnTo>
                  <a:pt x="689451" y="689452"/>
                </a:lnTo>
                <a:lnTo>
                  <a:pt x="0" y="68945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7301852" y="7298074"/>
            <a:ext cx="614932" cy="614932"/>
          </a:xfrm>
          <a:custGeom>
            <a:avLst/>
            <a:gdLst/>
            <a:ahLst/>
            <a:cxnLst/>
            <a:rect r="r" b="b" t="t" l="l"/>
            <a:pathLst>
              <a:path h="614932" w="614932">
                <a:moveTo>
                  <a:pt x="0" y="0"/>
                </a:moveTo>
                <a:lnTo>
                  <a:pt x="614931" y="0"/>
                </a:lnTo>
                <a:lnTo>
                  <a:pt x="614931" y="614932"/>
                </a:lnTo>
                <a:lnTo>
                  <a:pt x="0" y="61493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3810000" y="876300"/>
            <a:ext cx="10858500" cy="613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b="true" sz="35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Lead Qualification Loop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810000" y="1604095"/>
            <a:ext cx="108585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Continuous process for identifying and prioritizing high-value prospects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069139" y="5330972"/>
            <a:ext cx="3206205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Grou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ping leads by readiness, interest level, and characteristics systematically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069139" y="4938560"/>
            <a:ext cx="3206205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egmentation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270795" y="3530799"/>
            <a:ext cx="3206205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Ass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igning values based on engagement, demographics, and behavioral patterns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270795" y="7518093"/>
            <a:ext cx="3206205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Adjusting criteria based on conversion data, performance metrics, and customer feedback.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270795" y="3138387"/>
            <a:ext cx="3206205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Sc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oring System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270795" y="7125681"/>
            <a:ext cx="3206205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Refinement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874032" y="3456783"/>
            <a:ext cx="628033" cy="422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874032" y="7444077"/>
            <a:ext cx="628033" cy="422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783367" y="5264401"/>
            <a:ext cx="628033" cy="422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2538" y="2741587"/>
            <a:ext cx="2668902" cy="203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01"/>
              </a:lnSpc>
            </a:pPr>
            <a:r>
              <a:rPr lang="en-US" b="true" sz="11787">
                <a:solidFill>
                  <a:srgbClr val="A6DF18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46568" y="2741587"/>
            <a:ext cx="2668902" cy="203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01"/>
              </a:lnSpc>
            </a:pPr>
            <a:r>
              <a:rPr lang="en-US" b="true" sz="11787">
                <a:solidFill>
                  <a:srgbClr val="00CC91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10599" y="2741587"/>
            <a:ext cx="2668902" cy="203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01"/>
              </a:lnSpc>
            </a:pPr>
            <a:r>
              <a:rPr lang="en-US" b="true" sz="11787">
                <a:solidFill>
                  <a:srgbClr val="00A7BF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74629" y="2741587"/>
            <a:ext cx="2668902" cy="203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01"/>
              </a:lnSpc>
            </a:pPr>
            <a:r>
              <a:rPr lang="en-US" b="true" sz="11787">
                <a:solidFill>
                  <a:srgbClr val="0085E0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38660" y="2741587"/>
            <a:ext cx="2668902" cy="203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501"/>
              </a:lnSpc>
            </a:pPr>
            <a:r>
              <a:rPr lang="en-US" b="true" sz="11787">
                <a:solidFill>
                  <a:srgbClr val="5D65DA"/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656006" y="4282521"/>
            <a:ext cx="19790512" cy="2036269"/>
          </a:xfrm>
          <a:custGeom>
            <a:avLst/>
            <a:gdLst/>
            <a:ahLst/>
            <a:cxnLst/>
            <a:rect r="r" b="b" t="t" l="l"/>
            <a:pathLst>
              <a:path h="2036269" w="19790512">
                <a:moveTo>
                  <a:pt x="0" y="0"/>
                </a:moveTo>
                <a:lnTo>
                  <a:pt x="19790512" y="0"/>
                </a:lnTo>
                <a:lnTo>
                  <a:pt x="19790512" y="2036269"/>
                </a:lnTo>
                <a:lnTo>
                  <a:pt x="0" y="2036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576813" y="6687212"/>
            <a:ext cx="310906" cy="31090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6DF1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211762" y="6687212"/>
            <a:ext cx="310906" cy="310906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6B8B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846712" y="6687212"/>
            <a:ext cx="310906" cy="31090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8C9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481661" y="6687212"/>
            <a:ext cx="310906" cy="31090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85E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6116610" y="6687212"/>
            <a:ext cx="310906" cy="310906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D65DA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4965967" y="5023917"/>
            <a:ext cx="802497" cy="555911"/>
          </a:xfrm>
          <a:custGeom>
            <a:avLst/>
            <a:gdLst/>
            <a:ahLst/>
            <a:cxnLst/>
            <a:rect r="r" b="b" t="t" l="l"/>
            <a:pathLst>
              <a:path h="555911" w="802497">
                <a:moveTo>
                  <a:pt x="0" y="0"/>
                </a:moveTo>
                <a:lnTo>
                  <a:pt x="802497" y="0"/>
                </a:lnTo>
                <a:lnTo>
                  <a:pt x="802497" y="555911"/>
                </a:lnTo>
                <a:lnTo>
                  <a:pt x="0" y="555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770075" y="5062561"/>
            <a:ext cx="747850" cy="478624"/>
          </a:xfrm>
          <a:custGeom>
            <a:avLst/>
            <a:gdLst/>
            <a:ahLst/>
            <a:cxnLst/>
            <a:rect r="r" b="b" t="t" l="l"/>
            <a:pathLst>
              <a:path h="478624" w="747850">
                <a:moveTo>
                  <a:pt x="0" y="0"/>
                </a:moveTo>
                <a:lnTo>
                  <a:pt x="747850" y="0"/>
                </a:lnTo>
                <a:lnTo>
                  <a:pt x="747850" y="478624"/>
                </a:lnTo>
                <a:lnTo>
                  <a:pt x="0" y="4786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654087" y="5023917"/>
            <a:ext cx="810928" cy="555911"/>
          </a:xfrm>
          <a:custGeom>
            <a:avLst/>
            <a:gdLst/>
            <a:ahLst/>
            <a:cxnLst/>
            <a:rect r="r" b="b" t="t" l="l"/>
            <a:pathLst>
              <a:path h="555911" w="810928">
                <a:moveTo>
                  <a:pt x="0" y="0"/>
                </a:moveTo>
                <a:lnTo>
                  <a:pt x="810929" y="0"/>
                </a:lnTo>
                <a:lnTo>
                  <a:pt x="810929" y="555911"/>
                </a:lnTo>
                <a:lnTo>
                  <a:pt x="0" y="5559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6298172" y="5057598"/>
            <a:ext cx="444135" cy="488548"/>
          </a:xfrm>
          <a:custGeom>
            <a:avLst/>
            <a:gdLst/>
            <a:ahLst/>
            <a:cxnLst/>
            <a:rect r="r" b="b" t="t" l="l"/>
            <a:pathLst>
              <a:path h="488548" w="444135">
                <a:moveTo>
                  <a:pt x="0" y="0"/>
                </a:moveTo>
                <a:lnTo>
                  <a:pt x="444135" y="0"/>
                </a:lnTo>
                <a:lnTo>
                  <a:pt x="444135" y="488549"/>
                </a:lnTo>
                <a:lnTo>
                  <a:pt x="0" y="48854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98940" y="4980245"/>
            <a:ext cx="466652" cy="643255"/>
          </a:xfrm>
          <a:custGeom>
            <a:avLst/>
            <a:gdLst/>
            <a:ahLst/>
            <a:cxnLst/>
            <a:rect r="r" b="b" t="t" l="l"/>
            <a:pathLst>
              <a:path h="643255" w="466652">
                <a:moveTo>
                  <a:pt x="0" y="0"/>
                </a:moveTo>
                <a:lnTo>
                  <a:pt x="466652" y="0"/>
                </a:lnTo>
                <a:lnTo>
                  <a:pt x="466652" y="643255"/>
                </a:lnTo>
                <a:lnTo>
                  <a:pt x="0" y="64325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3810000" y="876300"/>
            <a:ext cx="10858500" cy="61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b="true" sz="35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Lead Nurturing Journey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810000" y="1604095"/>
            <a:ext cx="108585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Sequential touchpoints that guide prospects from awareness to decision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79061" y="7992724"/>
            <a:ext cx="2172378" cy="110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Introducing brand values and setting expectations through initial communications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29895" y="7357015"/>
            <a:ext cx="1870709" cy="48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6"/>
              </a:lnSpc>
            </a:pPr>
            <a:r>
              <a:rPr lang="en-US" b="true" sz="1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Welcome Sequence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29895" y="2819048"/>
            <a:ext cx="1870709" cy="3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9"/>
              </a:lnSpc>
            </a:pPr>
            <a:r>
              <a:rPr lang="en-US" b="true" sz="19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Phase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431861" y="2819048"/>
            <a:ext cx="1870709" cy="3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9"/>
              </a:lnSpc>
            </a:pPr>
            <a:r>
              <a:rPr lang="en-US" b="true" sz="19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Phase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281026" y="7992724"/>
            <a:ext cx="2172378" cy="110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Providing insights and solutions that address common challenges systematically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431861" y="7357015"/>
            <a:ext cx="1870709" cy="48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6"/>
              </a:lnSpc>
            </a:pPr>
            <a:r>
              <a:rPr lang="en-US" b="true" sz="1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Educational Content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758861" y="7992724"/>
            <a:ext cx="2420640" cy="110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Encouraging interaction through surveys, feedback, and community participation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033826" y="7357015"/>
            <a:ext cx="1870709" cy="48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6"/>
              </a:lnSpc>
            </a:pPr>
            <a:r>
              <a:rPr lang="en-US" b="true" sz="1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Engagement Building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298760" y="7992724"/>
            <a:ext cx="2544771" cy="110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Demonstrating how offerings solve specific problems with case studies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635791" y="7357015"/>
            <a:ext cx="1870709" cy="48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6"/>
              </a:lnSpc>
            </a:pPr>
            <a:r>
              <a:rPr lang="en-US" b="true" sz="1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Solution Presentation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5010722" y="7992724"/>
            <a:ext cx="2324778" cy="110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Presenting timely and compelling offers that motivate prospects to take action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5237756" y="7357015"/>
            <a:ext cx="1870709" cy="483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36"/>
              </a:lnSpc>
            </a:pPr>
            <a:r>
              <a:rPr lang="en-US" sz="160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Conversion</a:t>
            </a:r>
          </a:p>
          <a:p>
            <a:pPr algn="ctr">
              <a:lnSpc>
                <a:spcPts val="1936"/>
              </a:lnSpc>
            </a:pPr>
            <a:r>
              <a:rPr lang="en-US" b="true" sz="1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Trigger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033826" y="2819048"/>
            <a:ext cx="1870709" cy="3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9"/>
              </a:lnSpc>
            </a:pPr>
            <a:r>
              <a:rPr lang="en-US" b="true" sz="19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Phase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635791" y="2819048"/>
            <a:ext cx="1870709" cy="3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9"/>
              </a:lnSpc>
            </a:pPr>
            <a:r>
              <a:rPr lang="en-US" b="true" sz="19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Phase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237756" y="2819048"/>
            <a:ext cx="1870709" cy="311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19"/>
              </a:lnSpc>
            </a:pPr>
            <a:r>
              <a:rPr lang="en-US" b="true" sz="19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Phase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24534" y="2476500"/>
            <a:ext cx="6838932" cy="6751891"/>
          </a:xfrm>
          <a:custGeom>
            <a:avLst/>
            <a:gdLst/>
            <a:ahLst/>
            <a:cxnLst/>
            <a:rect r="r" b="b" t="t" l="l"/>
            <a:pathLst>
              <a:path h="6751891" w="6838932">
                <a:moveTo>
                  <a:pt x="0" y="0"/>
                </a:moveTo>
                <a:lnTo>
                  <a:pt x="6838932" y="0"/>
                </a:lnTo>
                <a:lnTo>
                  <a:pt x="6838932" y="6751891"/>
                </a:lnTo>
                <a:lnTo>
                  <a:pt x="0" y="67518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508222" y="4078057"/>
            <a:ext cx="621545" cy="559391"/>
          </a:xfrm>
          <a:custGeom>
            <a:avLst/>
            <a:gdLst/>
            <a:ahLst/>
            <a:cxnLst/>
            <a:rect r="r" b="b" t="t" l="l"/>
            <a:pathLst>
              <a:path h="559391" w="621545">
                <a:moveTo>
                  <a:pt x="0" y="0"/>
                </a:moveTo>
                <a:lnTo>
                  <a:pt x="621545" y="0"/>
                </a:lnTo>
                <a:lnTo>
                  <a:pt x="621545" y="559390"/>
                </a:lnTo>
                <a:lnTo>
                  <a:pt x="0" y="5593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517747" y="7033515"/>
            <a:ext cx="664572" cy="664572"/>
          </a:xfrm>
          <a:custGeom>
            <a:avLst/>
            <a:gdLst/>
            <a:ahLst/>
            <a:cxnLst/>
            <a:rect r="r" b="b" t="t" l="l"/>
            <a:pathLst>
              <a:path h="664572" w="664572">
                <a:moveTo>
                  <a:pt x="0" y="0"/>
                </a:moveTo>
                <a:lnTo>
                  <a:pt x="664572" y="0"/>
                </a:lnTo>
                <a:lnTo>
                  <a:pt x="664572" y="664572"/>
                </a:lnTo>
                <a:lnTo>
                  <a:pt x="0" y="6645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13037" y="7033515"/>
            <a:ext cx="664572" cy="664572"/>
          </a:xfrm>
          <a:custGeom>
            <a:avLst/>
            <a:gdLst/>
            <a:ahLst/>
            <a:cxnLst/>
            <a:rect r="r" b="b" t="t" l="l"/>
            <a:pathLst>
              <a:path h="664572" w="664572">
                <a:moveTo>
                  <a:pt x="0" y="0"/>
                </a:moveTo>
                <a:lnTo>
                  <a:pt x="664571" y="0"/>
                </a:lnTo>
                <a:lnTo>
                  <a:pt x="664571" y="664572"/>
                </a:lnTo>
                <a:lnTo>
                  <a:pt x="0" y="6645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983494" y="4026470"/>
            <a:ext cx="694115" cy="662564"/>
          </a:xfrm>
          <a:custGeom>
            <a:avLst/>
            <a:gdLst/>
            <a:ahLst/>
            <a:cxnLst/>
            <a:rect r="r" b="b" t="t" l="l"/>
            <a:pathLst>
              <a:path h="662564" w="694115">
                <a:moveTo>
                  <a:pt x="0" y="0"/>
                </a:moveTo>
                <a:lnTo>
                  <a:pt x="694114" y="0"/>
                </a:lnTo>
                <a:lnTo>
                  <a:pt x="694114" y="662564"/>
                </a:lnTo>
                <a:lnTo>
                  <a:pt x="0" y="6625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10000" y="876300"/>
            <a:ext cx="10858500" cy="61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b="true" sz="35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Content Distribution Strategy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810000" y="1604095"/>
            <a:ext cx="10858500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Multi-channel approach to reaching prospects where they engage most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1506" y="4159820"/>
            <a:ext cx="3010787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Id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entifying platforms where target audience spends time and seeks information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820422" y="4159820"/>
            <a:ext cx="3061922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Planning 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consistent posting cadence that maintains visibility without overwhelming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01506" y="7870480"/>
            <a:ext cx="2876181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Tail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oring messaging and format for each platform's unique requirements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820422" y="7870480"/>
            <a:ext cx="3061922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onitoring engagement metrics to optimize future distribution decisions effectively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01506" y="3738834"/>
            <a:ext cx="2876181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Chann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el Selection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820422" y="3738834"/>
            <a:ext cx="2876181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Sch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eduling System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01506" y="7449494"/>
            <a:ext cx="2876181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Cont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ent Adaptation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20422" y="7449494"/>
            <a:ext cx="2876181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Performanc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 Tracking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1506" y="2704419"/>
            <a:ext cx="2876181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b="true" sz="5400">
                <a:solidFill>
                  <a:srgbClr val="A6DF18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820422" y="2704419"/>
            <a:ext cx="2876181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b="true" sz="5400">
                <a:solidFill>
                  <a:srgbClr val="0098C9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20422" y="6415079"/>
            <a:ext cx="2876181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b="true" sz="5400">
                <a:solidFill>
                  <a:srgbClr val="5D65DA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01506" y="6415079"/>
            <a:ext cx="2872385" cy="920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b="true" sz="5400">
                <a:solidFill>
                  <a:srgbClr val="00D08F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04900" y="7543052"/>
            <a:ext cx="3419468" cy="1599702"/>
          </a:xfrm>
          <a:custGeom>
            <a:avLst/>
            <a:gdLst/>
            <a:ahLst/>
            <a:cxnLst/>
            <a:rect r="r" b="b" t="t" l="l"/>
            <a:pathLst>
              <a:path h="1599702" w="3419468">
                <a:moveTo>
                  <a:pt x="0" y="0"/>
                </a:moveTo>
                <a:lnTo>
                  <a:pt x="3419468" y="0"/>
                </a:lnTo>
                <a:lnTo>
                  <a:pt x="3419468" y="1599702"/>
                </a:lnTo>
                <a:lnTo>
                  <a:pt x="0" y="15997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726207" y="4343649"/>
            <a:ext cx="3419468" cy="1599702"/>
          </a:xfrm>
          <a:custGeom>
            <a:avLst/>
            <a:gdLst/>
            <a:ahLst/>
            <a:cxnLst/>
            <a:rect r="r" b="b" t="t" l="l"/>
            <a:pathLst>
              <a:path h="1599702" w="3419468">
                <a:moveTo>
                  <a:pt x="0" y="0"/>
                </a:moveTo>
                <a:lnTo>
                  <a:pt x="3419468" y="0"/>
                </a:lnTo>
                <a:lnTo>
                  <a:pt x="3419468" y="1599702"/>
                </a:lnTo>
                <a:lnTo>
                  <a:pt x="0" y="15997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415554" y="5943351"/>
            <a:ext cx="3419468" cy="1599702"/>
          </a:xfrm>
          <a:custGeom>
            <a:avLst/>
            <a:gdLst/>
            <a:ahLst/>
            <a:cxnLst/>
            <a:rect r="r" b="b" t="t" l="l"/>
            <a:pathLst>
              <a:path h="1599702" w="3419468">
                <a:moveTo>
                  <a:pt x="0" y="0"/>
                </a:moveTo>
                <a:lnTo>
                  <a:pt x="3419468" y="0"/>
                </a:lnTo>
                <a:lnTo>
                  <a:pt x="3419468" y="1599701"/>
                </a:lnTo>
                <a:lnTo>
                  <a:pt x="0" y="1599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36861" y="2743948"/>
            <a:ext cx="3419468" cy="1599702"/>
          </a:xfrm>
          <a:custGeom>
            <a:avLst/>
            <a:gdLst/>
            <a:ahLst/>
            <a:cxnLst/>
            <a:rect r="r" b="b" t="t" l="l"/>
            <a:pathLst>
              <a:path h="1599702" w="3419468">
                <a:moveTo>
                  <a:pt x="0" y="0"/>
                </a:moveTo>
                <a:lnTo>
                  <a:pt x="3419468" y="0"/>
                </a:lnTo>
                <a:lnTo>
                  <a:pt x="3419468" y="1599701"/>
                </a:lnTo>
                <a:lnTo>
                  <a:pt x="0" y="15997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47515" y="1144246"/>
            <a:ext cx="3419468" cy="1599702"/>
          </a:xfrm>
          <a:custGeom>
            <a:avLst/>
            <a:gdLst/>
            <a:ahLst/>
            <a:cxnLst/>
            <a:rect r="r" b="b" t="t" l="l"/>
            <a:pathLst>
              <a:path h="1599702" w="3419468">
                <a:moveTo>
                  <a:pt x="0" y="0"/>
                </a:moveTo>
                <a:lnTo>
                  <a:pt x="3419468" y="0"/>
                </a:lnTo>
                <a:lnTo>
                  <a:pt x="3419468" y="1599702"/>
                </a:lnTo>
                <a:lnTo>
                  <a:pt x="0" y="15997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347515" y="1243410"/>
            <a:ext cx="1401373" cy="1401373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5D65D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036861" y="2843112"/>
            <a:ext cx="1401373" cy="140137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85E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726207" y="4442813"/>
            <a:ext cx="1401373" cy="140137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A7B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415554" y="5982778"/>
            <a:ext cx="1401373" cy="140137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00D08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04900" y="7642216"/>
            <a:ext cx="1401373" cy="1401373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A6E017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568882" y="8190552"/>
            <a:ext cx="473409" cy="304703"/>
          </a:xfrm>
          <a:custGeom>
            <a:avLst/>
            <a:gdLst/>
            <a:ahLst/>
            <a:cxnLst/>
            <a:rect r="r" b="b" t="t" l="l"/>
            <a:pathLst>
              <a:path h="304703" w="473409">
                <a:moveTo>
                  <a:pt x="0" y="0"/>
                </a:moveTo>
                <a:lnTo>
                  <a:pt x="473409" y="0"/>
                </a:lnTo>
                <a:lnTo>
                  <a:pt x="473409" y="304703"/>
                </a:lnTo>
                <a:lnTo>
                  <a:pt x="0" y="3047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904774" y="6433929"/>
            <a:ext cx="422933" cy="449060"/>
          </a:xfrm>
          <a:custGeom>
            <a:avLst/>
            <a:gdLst/>
            <a:ahLst/>
            <a:cxnLst/>
            <a:rect r="r" b="b" t="t" l="l"/>
            <a:pathLst>
              <a:path h="449060" w="422933">
                <a:moveTo>
                  <a:pt x="0" y="0"/>
                </a:moveTo>
                <a:lnTo>
                  <a:pt x="422933" y="0"/>
                </a:lnTo>
                <a:lnTo>
                  <a:pt x="422933" y="449060"/>
                </a:lnTo>
                <a:lnTo>
                  <a:pt x="0" y="44906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185195" y="4903559"/>
            <a:ext cx="483398" cy="479883"/>
          </a:xfrm>
          <a:custGeom>
            <a:avLst/>
            <a:gdLst/>
            <a:ahLst/>
            <a:cxnLst/>
            <a:rect r="r" b="b" t="t" l="l"/>
            <a:pathLst>
              <a:path h="479883" w="483398">
                <a:moveTo>
                  <a:pt x="0" y="0"/>
                </a:moveTo>
                <a:lnTo>
                  <a:pt x="483398" y="0"/>
                </a:lnTo>
                <a:lnTo>
                  <a:pt x="483398" y="479882"/>
                </a:lnTo>
                <a:lnTo>
                  <a:pt x="0" y="47988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1654998">
            <a:off x="8567752" y="3184616"/>
            <a:ext cx="339591" cy="718365"/>
          </a:xfrm>
          <a:custGeom>
            <a:avLst/>
            <a:gdLst/>
            <a:ahLst/>
            <a:cxnLst/>
            <a:rect r="r" b="b" t="t" l="l"/>
            <a:pathLst>
              <a:path h="718365" w="339591">
                <a:moveTo>
                  <a:pt x="0" y="0"/>
                </a:moveTo>
                <a:lnTo>
                  <a:pt x="339591" y="0"/>
                </a:lnTo>
                <a:lnTo>
                  <a:pt x="339591" y="718365"/>
                </a:lnTo>
                <a:lnTo>
                  <a:pt x="0" y="71836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778573" y="1762710"/>
            <a:ext cx="539257" cy="362773"/>
          </a:xfrm>
          <a:custGeom>
            <a:avLst/>
            <a:gdLst/>
            <a:ahLst/>
            <a:cxnLst/>
            <a:rect r="r" b="b" t="t" l="l"/>
            <a:pathLst>
              <a:path h="362773" w="539257">
                <a:moveTo>
                  <a:pt x="0" y="0"/>
                </a:moveTo>
                <a:lnTo>
                  <a:pt x="539257" y="0"/>
                </a:lnTo>
                <a:lnTo>
                  <a:pt x="539257" y="362773"/>
                </a:lnTo>
                <a:lnTo>
                  <a:pt x="0" y="36277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4129295" y="1951035"/>
            <a:ext cx="3325609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Ent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ered into sales process with assigned representative for closing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129295" y="1558624"/>
            <a:ext cx="3206205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Opportunity Cr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eated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887200" y="3550737"/>
            <a:ext cx="3983925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emonstrating intent through high-value actions and direct inquiries actively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887200" y="3158326"/>
            <a:ext cx="3206205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Sales Ready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45105" y="5150439"/>
            <a:ext cx="3511350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Meeting dem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ographic and behavioral criteria indicating strong potential fit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45105" y="4758027"/>
            <a:ext cx="3206205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Mark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eting Qualified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403009" y="6750140"/>
            <a:ext cx="3645192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ctive interaction with content showing genuine interest in solutions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403009" y="6357729"/>
            <a:ext cx="3206205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ngaged Prospect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160914" y="8354564"/>
            <a:ext cx="3378678" cy="54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asic contact information provided through initial opt-in or download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160914" y="7962152"/>
            <a:ext cx="3206205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Subs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criber Level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8700" y="876300"/>
            <a:ext cx="6374309" cy="61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35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</a:t>
            </a:r>
            <a:r>
              <a:rPr lang="en-US" b="true" sz="35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ead Qualification Stages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28700" y="1604095"/>
            <a:ext cx="5257800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Progressive criteria for moving prospects through the sales pipeline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104900" y="6973736"/>
            <a:ext cx="1401373" cy="49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900">
                <a:solidFill>
                  <a:srgbClr val="A6DF18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415554" y="5346311"/>
            <a:ext cx="1401373" cy="49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900">
                <a:solidFill>
                  <a:srgbClr val="00CC91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726207" y="3750524"/>
            <a:ext cx="1401373" cy="49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900">
                <a:solidFill>
                  <a:srgbClr val="00A7BF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065731" y="2174631"/>
            <a:ext cx="1401373" cy="49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900">
                <a:solidFill>
                  <a:srgbClr val="0085E0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347515" y="646370"/>
            <a:ext cx="1401373" cy="497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900">
                <a:solidFill>
                  <a:srgbClr val="5D65DA"/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313278" y="1347603"/>
            <a:ext cx="7661443" cy="7591794"/>
          </a:xfrm>
          <a:custGeom>
            <a:avLst/>
            <a:gdLst/>
            <a:ahLst/>
            <a:cxnLst/>
            <a:rect r="r" b="b" t="t" l="l"/>
            <a:pathLst>
              <a:path h="7591794" w="7661443">
                <a:moveTo>
                  <a:pt x="0" y="0"/>
                </a:moveTo>
                <a:lnTo>
                  <a:pt x="7661444" y="0"/>
                </a:lnTo>
                <a:lnTo>
                  <a:pt x="7661444" y="7591794"/>
                </a:lnTo>
                <a:lnTo>
                  <a:pt x="0" y="75917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565272" y="2199407"/>
            <a:ext cx="633827" cy="633827"/>
            <a:chOff x="0" y="0"/>
            <a:chExt cx="558800" cy="558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00D08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44450" y="6350"/>
              <a:ext cx="469900" cy="508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458826" y="2199407"/>
            <a:ext cx="633827" cy="633827"/>
            <a:chOff x="0" y="0"/>
            <a:chExt cx="558800" cy="558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A6E017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44450" y="6350"/>
              <a:ext cx="469900" cy="508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>
                  <a:solidFill>
                    <a:srgbClr val="00000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565272" y="6466031"/>
            <a:ext cx="633827" cy="633827"/>
            <a:chOff x="0" y="0"/>
            <a:chExt cx="558800" cy="558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0098C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44450" y="6350"/>
              <a:ext cx="469900" cy="508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58826" y="6466031"/>
            <a:ext cx="633827" cy="633827"/>
            <a:chOff x="0" y="0"/>
            <a:chExt cx="558800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58800" cy="558800"/>
            </a:xfrm>
            <a:custGeom>
              <a:avLst/>
              <a:gdLst/>
              <a:ahLst/>
              <a:cxnLst/>
              <a:rect r="r" b="b" t="t" l="l"/>
              <a:pathLst>
                <a:path h="558800" w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5D65DA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44450" y="6350"/>
              <a:ext cx="469900" cy="508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  <a:r>
                <a:rPr lang="en-US" b="true" sz="160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6105803" y="2021691"/>
            <a:ext cx="609044" cy="582468"/>
          </a:xfrm>
          <a:custGeom>
            <a:avLst/>
            <a:gdLst/>
            <a:ahLst/>
            <a:cxnLst/>
            <a:rect r="r" b="b" t="t" l="l"/>
            <a:pathLst>
              <a:path h="582468" w="609044">
                <a:moveTo>
                  <a:pt x="0" y="0"/>
                </a:moveTo>
                <a:lnTo>
                  <a:pt x="609044" y="0"/>
                </a:lnTo>
                <a:lnTo>
                  <a:pt x="609044" y="582468"/>
                </a:lnTo>
                <a:lnTo>
                  <a:pt x="0" y="582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736132" y="2047557"/>
            <a:ext cx="530736" cy="530736"/>
          </a:xfrm>
          <a:custGeom>
            <a:avLst/>
            <a:gdLst/>
            <a:ahLst/>
            <a:cxnLst/>
            <a:rect r="r" b="b" t="t" l="l"/>
            <a:pathLst>
              <a:path h="530736" w="530736">
                <a:moveTo>
                  <a:pt x="0" y="0"/>
                </a:moveTo>
                <a:lnTo>
                  <a:pt x="530736" y="0"/>
                </a:lnTo>
                <a:lnTo>
                  <a:pt x="530736" y="530736"/>
                </a:lnTo>
                <a:lnTo>
                  <a:pt x="0" y="5307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1783439" y="7738230"/>
            <a:ext cx="436122" cy="533038"/>
          </a:xfrm>
          <a:custGeom>
            <a:avLst/>
            <a:gdLst/>
            <a:ahLst/>
            <a:cxnLst/>
            <a:rect r="r" b="b" t="t" l="l"/>
            <a:pathLst>
              <a:path h="533038" w="436122">
                <a:moveTo>
                  <a:pt x="0" y="0"/>
                </a:moveTo>
                <a:lnTo>
                  <a:pt x="436122" y="0"/>
                </a:lnTo>
                <a:lnTo>
                  <a:pt x="436122" y="533038"/>
                </a:lnTo>
                <a:lnTo>
                  <a:pt x="0" y="53303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173048" y="7767472"/>
            <a:ext cx="474554" cy="474554"/>
          </a:xfrm>
          <a:custGeom>
            <a:avLst/>
            <a:gdLst/>
            <a:ahLst/>
            <a:cxnLst/>
            <a:rect r="r" b="b" t="t" l="l"/>
            <a:pathLst>
              <a:path h="474554" w="474554">
                <a:moveTo>
                  <a:pt x="0" y="0"/>
                </a:moveTo>
                <a:lnTo>
                  <a:pt x="474554" y="0"/>
                </a:lnTo>
                <a:lnTo>
                  <a:pt x="474554" y="474554"/>
                </a:lnTo>
                <a:lnTo>
                  <a:pt x="0" y="4745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681972" y="4165252"/>
            <a:ext cx="2924057" cy="188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b="true" sz="35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Conversion Rate</a:t>
            </a:r>
            <a:r>
              <a:rPr lang="en-US" b="true" sz="35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Optimization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541999" y="2566059"/>
            <a:ext cx="2528300" cy="110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Developing testable theories about what specific changes will likely increase conversions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431198" y="2566059"/>
            <a:ext cx="2262956" cy="110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Examining 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current performance metrics to identify improvement opportunities clearly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541999" y="6832683"/>
            <a:ext cx="2528300" cy="110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Running controlled experiments to thoroughly validate assumptions with real-world data.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31198" y="6832683"/>
            <a:ext cx="2395628" cy="110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pplying winning variations and continuing the optimization cycle continuously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541999" y="2161307"/>
            <a:ext cx="2262956" cy="273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Hypo</a:t>
            </a:r>
            <a:r>
              <a:rPr lang="en-US" b="true" sz="1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thesis Formation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31198" y="2161307"/>
            <a:ext cx="2262956" cy="273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Da</a:t>
            </a:r>
            <a:r>
              <a:rPr lang="en-US" b="true" sz="1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ta Analysis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541999" y="6427931"/>
            <a:ext cx="2528300" cy="273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</a:t>
            </a:r>
            <a:r>
              <a:rPr lang="en-US" b="true" sz="1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esting Implementation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431198" y="6427931"/>
            <a:ext cx="2262956" cy="273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b="true" sz="1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</a:t>
            </a:r>
            <a:r>
              <a:rPr lang="en-US" b="true" sz="16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esults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94610" y="-1534061"/>
            <a:ext cx="15762516" cy="9058811"/>
          </a:xfrm>
          <a:custGeom>
            <a:avLst/>
            <a:gdLst/>
            <a:ahLst/>
            <a:cxnLst/>
            <a:rect r="r" b="b" t="t" l="l"/>
            <a:pathLst>
              <a:path h="9058811" w="15762516">
                <a:moveTo>
                  <a:pt x="0" y="0"/>
                </a:moveTo>
                <a:lnTo>
                  <a:pt x="15762516" y="0"/>
                </a:lnTo>
                <a:lnTo>
                  <a:pt x="15762516" y="9058811"/>
                </a:lnTo>
                <a:lnTo>
                  <a:pt x="0" y="90588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8124289"/>
            <a:ext cx="270742" cy="270742"/>
            <a:chOff x="0" y="0"/>
            <a:chExt cx="71307" cy="713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1307" cy="71307"/>
            </a:xfrm>
            <a:custGeom>
              <a:avLst/>
              <a:gdLst/>
              <a:ahLst/>
              <a:cxnLst/>
              <a:rect r="r" b="b" t="t" l="l"/>
              <a:pathLst>
                <a:path h="71307" w="71307">
                  <a:moveTo>
                    <a:pt x="0" y="0"/>
                  </a:moveTo>
                  <a:lnTo>
                    <a:pt x="71307" y="0"/>
                  </a:lnTo>
                  <a:lnTo>
                    <a:pt x="71307" y="71307"/>
                  </a:lnTo>
                  <a:lnTo>
                    <a:pt x="0" y="71307"/>
                  </a:lnTo>
                  <a:close/>
                </a:path>
              </a:pathLst>
            </a:custGeom>
            <a:solidFill>
              <a:srgbClr val="A6E017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71307" cy="1094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309254" y="8124289"/>
            <a:ext cx="270742" cy="270742"/>
            <a:chOff x="0" y="0"/>
            <a:chExt cx="71307" cy="713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307" cy="71307"/>
            </a:xfrm>
            <a:custGeom>
              <a:avLst/>
              <a:gdLst/>
              <a:ahLst/>
              <a:cxnLst/>
              <a:rect r="r" b="b" t="t" l="l"/>
              <a:pathLst>
                <a:path h="71307" w="71307">
                  <a:moveTo>
                    <a:pt x="0" y="0"/>
                  </a:moveTo>
                  <a:lnTo>
                    <a:pt x="71307" y="0"/>
                  </a:lnTo>
                  <a:lnTo>
                    <a:pt x="71307" y="71307"/>
                  </a:lnTo>
                  <a:lnTo>
                    <a:pt x="0" y="71307"/>
                  </a:lnTo>
                  <a:close/>
                </a:path>
              </a:pathLst>
            </a:custGeom>
            <a:solidFill>
              <a:srgbClr val="00CC9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1307" cy="1094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589808" y="8124289"/>
            <a:ext cx="270742" cy="270742"/>
            <a:chOff x="0" y="0"/>
            <a:chExt cx="71307" cy="7130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307" cy="71307"/>
            </a:xfrm>
            <a:custGeom>
              <a:avLst/>
              <a:gdLst/>
              <a:ahLst/>
              <a:cxnLst/>
              <a:rect r="r" b="b" t="t" l="l"/>
              <a:pathLst>
                <a:path h="71307" w="71307">
                  <a:moveTo>
                    <a:pt x="0" y="0"/>
                  </a:moveTo>
                  <a:lnTo>
                    <a:pt x="71307" y="0"/>
                  </a:lnTo>
                  <a:lnTo>
                    <a:pt x="71307" y="71307"/>
                  </a:lnTo>
                  <a:lnTo>
                    <a:pt x="0" y="71307"/>
                  </a:lnTo>
                  <a:close/>
                </a:path>
              </a:pathLst>
            </a:custGeom>
            <a:solidFill>
              <a:srgbClr val="0098C9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71307" cy="1094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870362" y="8124289"/>
            <a:ext cx="270742" cy="270742"/>
            <a:chOff x="0" y="0"/>
            <a:chExt cx="71307" cy="7130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307" cy="71307"/>
            </a:xfrm>
            <a:custGeom>
              <a:avLst/>
              <a:gdLst/>
              <a:ahLst/>
              <a:cxnLst/>
              <a:rect r="r" b="b" t="t" l="l"/>
              <a:pathLst>
                <a:path h="71307" w="71307">
                  <a:moveTo>
                    <a:pt x="0" y="0"/>
                  </a:moveTo>
                  <a:lnTo>
                    <a:pt x="71307" y="0"/>
                  </a:lnTo>
                  <a:lnTo>
                    <a:pt x="71307" y="71307"/>
                  </a:lnTo>
                  <a:lnTo>
                    <a:pt x="0" y="71307"/>
                  </a:lnTo>
                  <a:close/>
                </a:path>
              </a:pathLst>
            </a:custGeom>
            <a:solidFill>
              <a:srgbClr val="0085E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71307" cy="1094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870362" y="5905500"/>
            <a:ext cx="270742" cy="270742"/>
            <a:chOff x="0" y="0"/>
            <a:chExt cx="71307" cy="7130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1307" cy="71307"/>
            </a:xfrm>
            <a:custGeom>
              <a:avLst/>
              <a:gdLst/>
              <a:ahLst/>
              <a:cxnLst/>
              <a:rect r="r" b="b" t="t" l="l"/>
              <a:pathLst>
                <a:path h="71307" w="71307">
                  <a:moveTo>
                    <a:pt x="0" y="0"/>
                  </a:moveTo>
                  <a:lnTo>
                    <a:pt x="71307" y="0"/>
                  </a:lnTo>
                  <a:lnTo>
                    <a:pt x="71307" y="71307"/>
                  </a:lnTo>
                  <a:lnTo>
                    <a:pt x="0" y="71307"/>
                  </a:lnTo>
                  <a:close/>
                </a:path>
              </a:pathLst>
            </a:custGeom>
            <a:solidFill>
              <a:srgbClr val="5D65D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71307" cy="1094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3260352" y="4267200"/>
            <a:ext cx="661146" cy="693951"/>
          </a:xfrm>
          <a:custGeom>
            <a:avLst/>
            <a:gdLst/>
            <a:ahLst/>
            <a:cxnLst/>
            <a:rect r="r" b="b" t="t" l="l"/>
            <a:pathLst>
              <a:path h="693951" w="661146">
                <a:moveTo>
                  <a:pt x="0" y="0"/>
                </a:moveTo>
                <a:lnTo>
                  <a:pt x="661146" y="0"/>
                </a:lnTo>
                <a:lnTo>
                  <a:pt x="661146" y="693951"/>
                </a:lnTo>
                <a:lnTo>
                  <a:pt x="0" y="6939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851500" y="5740053"/>
            <a:ext cx="764813" cy="492262"/>
          </a:xfrm>
          <a:custGeom>
            <a:avLst/>
            <a:gdLst/>
            <a:ahLst/>
            <a:cxnLst/>
            <a:rect r="r" b="b" t="t" l="l"/>
            <a:pathLst>
              <a:path h="492262" w="764813">
                <a:moveTo>
                  <a:pt x="0" y="0"/>
                </a:moveTo>
                <a:lnTo>
                  <a:pt x="764813" y="0"/>
                </a:lnTo>
                <a:lnTo>
                  <a:pt x="764813" y="492261"/>
                </a:lnTo>
                <a:lnTo>
                  <a:pt x="0" y="4922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284294" y="2605107"/>
            <a:ext cx="802198" cy="910541"/>
          </a:xfrm>
          <a:custGeom>
            <a:avLst/>
            <a:gdLst/>
            <a:ahLst/>
            <a:cxnLst/>
            <a:rect r="r" b="b" t="t" l="l"/>
            <a:pathLst>
              <a:path h="910541" w="802198">
                <a:moveTo>
                  <a:pt x="0" y="0"/>
                </a:moveTo>
                <a:lnTo>
                  <a:pt x="802198" y="0"/>
                </a:lnTo>
                <a:lnTo>
                  <a:pt x="802198" y="910541"/>
                </a:lnTo>
                <a:lnTo>
                  <a:pt x="0" y="91054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058827" y="496825"/>
            <a:ext cx="709827" cy="709827"/>
          </a:xfrm>
          <a:custGeom>
            <a:avLst/>
            <a:gdLst/>
            <a:ahLst/>
            <a:cxnLst/>
            <a:rect r="r" b="b" t="t" l="l"/>
            <a:pathLst>
              <a:path h="709827" w="709827">
                <a:moveTo>
                  <a:pt x="0" y="0"/>
                </a:moveTo>
                <a:lnTo>
                  <a:pt x="709827" y="0"/>
                </a:lnTo>
                <a:lnTo>
                  <a:pt x="709827" y="709827"/>
                </a:lnTo>
                <a:lnTo>
                  <a:pt x="0" y="7098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543293" y="1642195"/>
            <a:ext cx="708232" cy="424939"/>
          </a:xfrm>
          <a:custGeom>
            <a:avLst/>
            <a:gdLst/>
            <a:ahLst/>
            <a:cxnLst/>
            <a:rect r="r" b="b" t="t" l="l"/>
            <a:pathLst>
              <a:path h="424939" w="708232">
                <a:moveTo>
                  <a:pt x="0" y="0"/>
                </a:moveTo>
                <a:lnTo>
                  <a:pt x="708232" y="0"/>
                </a:lnTo>
                <a:lnTo>
                  <a:pt x="708232" y="424939"/>
                </a:lnTo>
                <a:lnTo>
                  <a:pt x="0" y="42493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617657" y="8508254"/>
            <a:ext cx="3130436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Dividing the audience by specific interests, behavior, and position in the journey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17657" y="8087267"/>
            <a:ext cx="2876181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List S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egmentation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898211" y="8508254"/>
            <a:ext cx="2876181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riting compelling copy that speaks directly to segment needs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898211" y="8087267"/>
            <a:ext cx="2876181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Mes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sage Crafting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178765" y="8508254"/>
            <a:ext cx="2876181" cy="826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ating mobile-responsive templates with clear visual hierarchy and branding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178765" y="8087267"/>
            <a:ext cx="2876181" cy="306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Design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 Optimization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459319" y="8508254"/>
            <a:ext cx="3097807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Schedu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ling delivery when audience is most likely to engage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459319" y="8087267"/>
            <a:ext cx="287618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Send Timing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459319" y="6289464"/>
            <a:ext cx="2876181" cy="1102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Plann</a:t>
            </a:r>
            <a:r>
              <a:rPr lang="en-US" sz="16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ing additional touchpoints based on recipient actions and responses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459319" y="5868478"/>
            <a:ext cx="2876181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Follow-up </a:t>
            </a:r>
            <a:r>
              <a:rPr lang="en-US" b="true" sz="1800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Sequence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876300"/>
            <a:ext cx="6831067" cy="613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35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Email Campaign F</a:t>
            </a:r>
            <a:r>
              <a:rPr lang="en-US" b="true" sz="3599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ramework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28700" y="1604095"/>
            <a:ext cx="683106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</a:t>
            </a:r>
            <a:r>
              <a:rPr lang="en-US" sz="189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tructured approach to converting subscribers into customers through messaging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54330" y="6119168"/>
            <a:ext cx="3106534" cy="1017288"/>
            <a:chOff x="0" y="0"/>
            <a:chExt cx="818182" cy="2679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8182" cy="267928"/>
            </a:xfrm>
            <a:custGeom>
              <a:avLst/>
              <a:gdLst/>
              <a:ahLst/>
              <a:cxnLst/>
              <a:rect r="r" b="b" t="t" l="l"/>
              <a:pathLst>
                <a:path h="267928" w="818182">
                  <a:moveTo>
                    <a:pt x="0" y="0"/>
                  </a:moveTo>
                  <a:lnTo>
                    <a:pt x="818182" y="0"/>
                  </a:lnTo>
                  <a:lnTo>
                    <a:pt x="818182" y="267928"/>
                  </a:lnTo>
                  <a:lnTo>
                    <a:pt x="0" y="267928"/>
                  </a:lnTo>
                  <a:close/>
                </a:path>
              </a:pathLst>
            </a:custGeom>
            <a:solidFill>
              <a:srgbClr val="DFE1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818182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-10800000">
            <a:off x="10872589" y="1772471"/>
            <a:ext cx="3259937" cy="3259937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8303762" y="2643748"/>
            <a:ext cx="4901136" cy="4901136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 rot="0">
            <a:off x="950388" y="6119168"/>
            <a:ext cx="9803941" cy="1017288"/>
            <a:chOff x="0" y="0"/>
            <a:chExt cx="2582108" cy="26792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82108" cy="267928"/>
            </a:xfrm>
            <a:custGeom>
              <a:avLst/>
              <a:gdLst/>
              <a:ahLst/>
              <a:cxnLst/>
              <a:rect r="r" b="b" t="t" l="l"/>
              <a:pathLst>
                <a:path h="267928" w="2582108">
                  <a:moveTo>
                    <a:pt x="0" y="0"/>
                  </a:moveTo>
                  <a:lnTo>
                    <a:pt x="2582108" y="0"/>
                  </a:lnTo>
                  <a:lnTo>
                    <a:pt x="2582108" y="267928"/>
                  </a:lnTo>
                  <a:lnTo>
                    <a:pt x="0" y="267928"/>
                  </a:lnTo>
                  <a:close/>
                </a:path>
              </a:pathLst>
            </a:custGeom>
            <a:solidFill>
              <a:srgbClr val="C1C7D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582108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540396" y="5094316"/>
            <a:ext cx="1470026" cy="553882"/>
            <a:chOff x="0" y="0"/>
            <a:chExt cx="600197" cy="22614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0197" cy="226144"/>
            </a:xfrm>
            <a:custGeom>
              <a:avLst/>
              <a:gdLst/>
              <a:ahLst/>
              <a:cxnLst/>
              <a:rect r="r" b="b" t="t" l="l"/>
              <a:pathLst>
                <a:path h="226144" w="600197">
                  <a:moveTo>
                    <a:pt x="300099" y="226144"/>
                  </a:moveTo>
                  <a:lnTo>
                    <a:pt x="600197" y="0"/>
                  </a:lnTo>
                  <a:lnTo>
                    <a:pt x="0" y="0"/>
                  </a:lnTo>
                  <a:lnTo>
                    <a:pt x="300099" y="226144"/>
                  </a:lnTo>
                  <a:close/>
                </a:path>
              </a:pathLst>
            </a:custGeom>
            <a:solidFill>
              <a:srgbClr val="C1C7D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93781" y="-12422"/>
              <a:ext cx="412636" cy="1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935591" y="3402439"/>
            <a:ext cx="1243953" cy="432150"/>
            <a:chOff x="0" y="0"/>
            <a:chExt cx="507894" cy="17644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07894" cy="176443"/>
            </a:xfrm>
            <a:custGeom>
              <a:avLst/>
              <a:gdLst/>
              <a:ahLst/>
              <a:cxnLst/>
              <a:rect r="r" b="b" t="t" l="l"/>
              <a:pathLst>
                <a:path h="176443" w="507894">
                  <a:moveTo>
                    <a:pt x="253947" y="176443"/>
                  </a:moveTo>
                  <a:lnTo>
                    <a:pt x="507894" y="0"/>
                  </a:lnTo>
                  <a:lnTo>
                    <a:pt x="0" y="0"/>
                  </a:lnTo>
                  <a:lnTo>
                    <a:pt x="253947" y="176443"/>
                  </a:lnTo>
                  <a:close/>
                </a:path>
              </a:pathLst>
            </a:custGeom>
            <a:solidFill>
              <a:srgbClr val="DFE1E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9358" y="-15972"/>
              <a:ext cx="349177" cy="1104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11579" y="6119168"/>
            <a:ext cx="2381250" cy="1017288"/>
            <a:chOff x="0" y="0"/>
            <a:chExt cx="627160" cy="2679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36B58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157631" y="6119168"/>
            <a:ext cx="2381250" cy="1017288"/>
            <a:chOff x="0" y="0"/>
            <a:chExt cx="627160" cy="26792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0097A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903684" y="6119168"/>
            <a:ext cx="2381250" cy="1017288"/>
            <a:chOff x="0" y="0"/>
            <a:chExt cx="627160" cy="2679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7161" cy="267928"/>
            </a:xfrm>
            <a:custGeom>
              <a:avLst/>
              <a:gdLst/>
              <a:ahLst/>
              <a:cxnLst/>
              <a:rect r="r" b="b" t="t" l="l"/>
              <a:pathLst>
                <a:path h="267928" w="627161">
                  <a:moveTo>
                    <a:pt x="133964" y="0"/>
                  </a:moveTo>
                  <a:lnTo>
                    <a:pt x="493197" y="0"/>
                  </a:lnTo>
                  <a:cubicBezTo>
                    <a:pt x="567183" y="0"/>
                    <a:pt x="627161" y="59978"/>
                    <a:pt x="627161" y="133964"/>
                  </a:cubicBezTo>
                  <a:lnTo>
                    <a:pt x="627161" y="133964"/>
                  </a:lnTo>
                  <a:cubicBezTo>
                    <a:pt x="627161" y="207950"/>
                    <a:pt x="567183" y="267928"/>
                    <a:pt x="493197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0071B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62716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672850" y="6119168"/>
            <a:ext cx="2667000" cy="1017288"/>
            <a:chOff x="0" y="0"/>
            <a:chExt cx="702420" cy="2679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02420" cy="267928"/>
            </a:xfrm>
            <a:custGeom>
              <a:avLst/>
              <a:gdLst/>
              <a:ahLst/>
              <a:cxnLst/>
              <a:rect r="r" b="b" t="t" l="l"/>
              <a:pathLst>
                <a:path h="267928" w="702420">
                  <a:moveTo>
                    <a:pt x="133964" y="0"/>
                  </a:moveTo>
                  <a:lnTo>
                    <a:pt x="568456" y="0"/>
                  </a:lnTo>
                  <a:cubicBezTo>
                    <a:pt x="642442" y="0"/>
                    <a:pt x="702420" y="59978"/>
                    <a:pt x="702420" y="133964"/>
                  </a:cubicBezTo>
                  <a:lnTo>
                    <a:pt x="702420" y="133964"/>
                  </a:lnTo>
                  <a:cubicBezTo>
                    <a:pt x="702420" y="207950"/>
                    <a:pt x="642442" y="267928"/>
                    <a:pt x="568456" y="267928"/>
                  </a:cubicBezTo>
                  <a:lnTo>
                    <a:pt x="133964" y="267928"/>
                  </a:lnTo>
                  <a:cubicBezTo>
                    <a:pt x="59978" y="267928"/>
                    <a:pt x="0" y="207950"/>
                    <a:pt x="0" y="133964"/>
                  </a:cubicBezTo>
                  <a:lnTo>
                    <a:pt x="0" y="133964"/>
                  </a:lnTo>
                  <a:cubicBezTo>
                    <a:pt x="0" y="59978"/>
                    <a:pt x="59978" y="0"/>
                    <a:pt x="133964" y="0"/>
                  </a:cubicBezTo>
                  <a:close/>
                </a:path>
              </a:pathLst>
            </a:custGeom>
            <a:solidFill>
              <a:srgbClr val="FFAB0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702420" cy="2965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-5400000">
            <a:off x="13349282" y="6350871"/>
            <a:ext cx="1470026" cy="553882"/>
            <a:chOff x="0" y="0"/>
            <a:chExt cx="600197" cy="2261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00197" cy="226144"/>
            </a:xfrm>
            <a:custGeom>
              <a:avLst/>
              <a:gdLst/>
              <a:ahLst/>
              <a:cxnLst/>
              <a:rect r="r" b="b" t="t" l="l"/>
              <a:pathLst>
                <a:path h="226144" w="600197">
                  <a:moveTo>
                    <a:pt x="300099" y="226144"/>
                  </a:moveTo>
                  <a:lnTo>
                    <a:pt x="600197" y="0"/>
                  </a:lnTo>
                  <a:lnTo>
                    <a:pt x="0" y="0"/>
                  </a:lnTo>
                  <a:lnTo>
                    <a:pt x="300099" y="226144"/>
                  </a:lnTo>
                  <a:close/>
                </a:path>
              </a:pathLst>
            </a:custGeom>
            <a:solidFill>
              <a:srgbClr val="DFE1E6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93781" y="-12422"/>
              <a:ext cx="412636" cy="1335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935454" y="3335887"/>
            <a:ext cx="1333500" cy="1333500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FE1E6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4681506" y="3335887"/>
            <a:ext cx="1333500" cy="1333500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FE1E6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427559" y="2204276"/>
            <a:ext cx="1333500" cy="1333500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FE1E6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242977" y="3335887"/>
            <a:ext cx="1333500" cy="1333500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FE1E6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9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2373604" y="3774037"/>
            <a:ext cx="457200" cy="457200"/>
          </a:xfrm>
          <a:custGeom>
            <a:avLst/>
            <a:gdLst/>
            <a:ahLst/>
            <a:cxnLst/>
            <a:rect r="r" b="b" t="t" l="l"/>
            <a:pathLst>
              <a:path h="457200" w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4989028" y="3774037"/>
            <a:ext cx="718457" cy="457200"/>
          </a:xfrm>
          <a:custGeom>
            <a:avLst/>
            <a:gdLst/>
            <a:ahLst/>
            <a:cxnLst/>
            <a:rect r="r" b="b" t="t" l="l"/>
            <a:pathLst>
              <a:path h="457200" w="718457">
                <a:moveTo>
                  <a:pt x="0" y="0"/>
                </a:moveTo>
                <a:lnTo>
                  <a:pt x="718457" y="0"/>
                </a:lnTo>
                <a:lnTo>
                  <a:pt x="718457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7870007" y="2604326"/>
            <a:ext cx="480060" cy="533400"/>
          </a:xfrm>
          <a:custGeom>
            <a:avLst/>
            <a:gdLst/>
            <a:ahLst/>
            <a:cxnLst/>
            <a:rect r="r" b="b" t="t" l="l"/>
            <a:pathLst>
              <a:path h="533400" w="480060">
                <a:moveTo>
                  <a:pt x="0" y="0"/>
                </a:moveTo>
                <a:lnTo>
                  <a:pt x="480060" y="0"/>
                </a:lnTo>
                <a:lnTo>
                  <a:pt x="48006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15675516" y="3735937"/>
            <a:ext cx="468422" cy="533400"/>
          </a:xfrm>
          <a:custGeom>
            <a:avLst/>
            <a:gdLst/>
            <a:ahLst/>
            <a:cxnLst/>
            <a:rect r="r" b="b" t="t" l="l"/>
            <a:pathLst>
              <a:path h="533400" w="468422">
                <a:moveTo>
                  <a:pt x="0" y="0"/>
                </a:moveTo>
                <a:lnTo>
                  <a:pt x="468422" y="0"/>
                </a:lnTo>
                <a:lnTo>
                  <a:pt x="468422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028700" y="942975"/>
            <a:ext cx="11473857" cy="81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b="true" sz="4799">
                <a:solidFill>
                  <a:srgbClr val="333333"/>
                </a:solidFill>
                <a:latin typeface="Garet Bold"/>
                <a:ea typeface="Garet Bold"/>
                <a:cs typeface="Garet Bold"/>
                <a:sym typeface="Garet Bold"/>
              </a:rPr>
              <a:t>SCRUM PROCESS DIAGRAM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865565" y="6370637"/>
            <a:ext cx="14732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Product Backlog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35391" y="7591425"/>
            <a:ext cx="2333625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Prioritized </a:t>
            </a: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list of product features</a:t>
            </a:r>
          </a:p>
          <a:p>
            <a:pPr algn="l" marL="345439" indent="-172720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User stories awaiting team estimation</a:t>
            </a:r>
          </a:p>
          <a:p>
            <a:pPr algn="l" marL="345439" indent="-172720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Requirements refined by Product Owner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181444" y="7591425"/>
            <a:ext cx="2333625" cy="142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Team selects sprint</a:t>
            </a: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backlog items</a:t>
            </a:r>
          </a:p>
          <a:p>
            <a:pPr algn="l" marL="345439" indent="-172720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Estimates effort for selected work</a:t>
            </a:r>
          </a:p>
          <a:p>
            <a:pPr algn="l" marL="345439" indent="-172720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Defines sprint goal and commitments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4404146" y="6370637"/>
            <a:ext cx="188822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Planning Meeting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505754" y="6370637"/>
            <a:ext cx="117711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Backlog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5417795" y="6370637"/>
            <a:ext cx="117711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Finished Work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165774" y="4847382"/>
            <a:ext cx="117711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1-4 Weeks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933052" y="3088237"/>
            <a:ext cx="1177111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24 H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6927497" y="7591425"/>
            <a:ext cx="2333625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Work committed for current </a:t>
            </a: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sprint</a:t>
            </a:r>
          </a:p>
          <a:p>
            <a:pPr algn="l" marL="345439" indent="-172720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Tasks broken down into details</a:t>
            </a:r>
          </a:p>
          <a:p>
            <a:pPr algn="l" marL="345439" indent="-172720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Team updates progress tracking daily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672850" y="7591425"/>
            <a:ext cx="2667000" cy="166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Completed work meeting definition done</a:t>
            </a:r>
          </a:p>
          <a:p>
            <a:pPr algn="l" marL="345439" indent="-172720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Potentially shippable product</a:t>
            </a: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increment created</a:t>
            </a:r>
          </a:p>
          <a:p>
            <a:pPr algn="l" marL="345439" indent="-172720" lvl="1">
              <a:lnSpc>
                <a:spcPts val="1919"/>
              </a:lnSpc>
              <a:buFont typeface="Arial"/>
              <a:buChar char="•"/>
            </a:pPr>
            <a:r>
              <a:rPr lang="en-US" sz="1599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Reviewed and accepted by stakeholders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865565" y="4987579"/>
            <a:ext cx="14732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Product Owner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4611617" y="4980732"/>
            <a:ext cx="147327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357670" y="3855503"/>
            <a:ext cx="147327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Scrum Master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084295" y="2449939"/>
            <a:ext cx="13335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Daily Standup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735139" y="4980732"/>
            <a:ext cx="252416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59"/>
              </a:lnSpc>
            </a:pPr>
            <a:r>
              <a:rPr lang="en-US" b="true" sz="1799">
                <a:solidFill>
                  <a:srgbClr val="333333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Sprint Review &amp; Sprint Retrospective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414449" y="3579351"/>
            <a:ext cx="1459102" cy="14591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7C9E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b="true" sz="3600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3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092158" y="3575222"/>
            <a:ext cx="1459102" cy="145910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3538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b="true" sz="3600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5</a:t>
              </a:r>
            </a:p>
          </p:txBody>
        </p:sp>
      </p:grpSp>
      <p:sp>
        <p:nvSpPr>
          <p:cNvPr name="AutoShape 8" id="8"/>
          <p:cNvSpPr/>
          <p:nvPr/>
        </p:nvSpPr>
        <p:spPr>
          <a:xfrm rot="2822720">
            <a:off x="2415345" y="6078808"/>
            <a:ext cx="3440745" cy="38100"/>
          </a:xfrm>
          <a:prstGeom prst="line">
            <a:avLst/>
          </a:prstGeom>
          <a:ln cap="rnd" w="38100">
            <a:solidFill>
              <a:srgbClr val="78DDE4"/>
            </a:solidFill>
            <a:prstDash val="sysDash"/>
            <a:headEnd type="none" len="sm" w="sm"/>
            <a:tailEnd type="triangle" len="med" w="lg"/>
          </a:ln>
        </p:spPr>
      </p:sp>
      <p:grpSp>
        <p:nvGrpSpPr>
          <p:cNvPr name="Group 9" id="9"/>
          <p:cNvGrpSpPr/>
          <p:nvPr/>
        </p:nvGrpSpPr>
        <p:grpSpPr>
          <a:xfrm rot="0">
            <a:off x="11839553" y="7161391"/>
            <a:ext cx="1459102" cy="1459102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92D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b="true" sz="3600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4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36740" y="3575222"/>
            <a:ext cx="1459102" cy="145910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8DDE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b="true" sz="3600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075594" y="7161391"/>
            <a:ext cx="1459102" cy="1459102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6D1D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b="true" sz="3600">
                  <a:solidFill>
                    <a:srgbClr val="FFFFFF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2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rot="2776981">
            <a:off x="9108083" y="6080872"/>
            <a:ext cx="3496938" cy="38100"/>
          </a:xfrm>
          <a:prstGeom prst="line">
            <a:avLst/>
          </a:prstGeom>
          <a:ln cap="rnd" w="38100">
            <a:solidFill>
              <a:srgbClr val="37C9EF"/>
            </a:solidFill>
            <a:prstDash val="sysDash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 rot="-2820745">
            <a:off x="5755710" y="6080872"/>
            <a:ext cx="3437725" cy="38100"/>
          </a:xfrm>
          <a:prstGeom prst="line">
            <a:avLst/>
          </a:prstGeom>
          <a:ln cap="rnd" w="38100">
            <a:solidFill>
              <a:srgbClr val="36D1D6"/>
            </a:solidFill>
            <a:prstDash val="sysDash"/>
            <a:headEnd type="none" len="sm" w="sm"/>
            <a:tailEnd type="triangle" len="med" w="lg"/>
          </a:ln>
        </p:spPr>
      </p:sp>
      <p:sp>
        <p:nvSpPr>
          <p:cNvPr name="AutoShape 20" id="20"/>
          <p:cNvSpPr/>
          <p:nvPr/>
        </p:nvSpPr>
        <p:spPr>
          <a:xfrm rot="-2867544">
            <a:off x="12504216" y="6078808"/>
            <a:ext cx="3382380" cy="38100"/>
          </a:xfrm>
          <a:prstGeom prst="line">
            <a:avLst/>
          </a:prstGeom>
          <a:ln cap="rnd" w="38100">
            <a:solidFill>
              <a:srgbClr val="2C92D5"/>
            </a:solidFill>
            <a:prstDash val="sysDash"/>
            <a:headEnd type="none" len="sm" w="sm"/>
            <a:tailEnd type="triangle" len="med" w="lg"/>
          </a:ln>
        </p:spPr>
      </p:sp>
      <p:grpSp>
        <p:nvGrpSpPr>
          <p:cNvPr name="Group 21" id="21"/>
          <p:cNvGrpSpPr/>
          <p:nvPr/>
        </p:nvGrpSpPr>
        <p:grpSpPr>
          <a:xfrm rot="0">
            <a:off x="1188423" y="6983750"/>
            <a:ext cx="2555736" cy="1712652"/>
            <a:chOff x="0" y="0"/>
            <a:chExt cx="3407648" cy="2283536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757842"/>
              <a:ext cx="3407648" cy="1525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 spc="32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Identify a problem and form a thesis statement.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-28575"/>
              <a:ext cx="3407648" cy="5560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80"/>
                </a:lnSpc>
              </a:pPr>
              <a:r>
                <a:rPr lang="en-US" b="true" sz="2600" u="none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PROBLEM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527277" y="3576811"/>
            <a:ext cx="2555736" cy="1712652"/>
            <a:chOff x="0" y="0"/>
            <a:chExt cx="3407648" cy="2283536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757842"/>
              <a:ext cx="3407648" cy="1525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 spc="32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Review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 spc="32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literature related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 spc="32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to your topic.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-28575"/>
              <a:ext cx="3407648" cy="5560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80"/>
                </a:lnSpc>
              </a:pPr>
              <a:r>
                <a:rPr lang="en-US" b="true" sz="260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READ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7866132" y="7006041"/>
            <a:ext cx="2555736" cy="2103177"/>
            <a:chOff x="0" y="0"/>
            <a:chExt cx="3407648" cy="2804236"/>
          </a:xfrm>
        </p:grpSpPr>
        <p:sp>
          <p:nvSpPr>
            <p:cNvPr name="TextBox 28" id="28"/>
            <p:cNvSpPr txBox="true"/>
            <p:nvPr/>
          </p:nvSpPr>
          <p:spPr>
            <a:xfrm rot="0">
              <a:off x="0" y="757842"/>
              <a:ext cx="3407648" cy="2046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 spc="32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Come up with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 spc="32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an educated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 spc="32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guess based on your research.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0" y="-28575"/>
              <a:ext cx="3407648" cy="5560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80"/>
                </a:lnSpc>
              </a:pPr>
              <a:r>
                <a:rPr lang="en-US" b="true" sz="260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HYPOTHESIZE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291236" y="3576811"/>
            <a:ext cx="2555736" cy="1712652"/>
            <a:chOff x="0" y="0"/>
            <a:chExt cx="3407648" cy="2283536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757842"/>
              <a:ext cx="3407648" cy="1525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 spc="32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Read resources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 spc="32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to support your hypothesis.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-28575"/>
              <a:ext cx="3407648" cy="5560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80"/>
                </a:lnSpc>
              </a:pPr>
              <a:r>
                <a:rPr lang="en-US" b="true" sz="260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RESEARCH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543841" y="7034616"/>
            <a:ext cx="2555736" cy="1712652"/>
            <a:chOff x="0" y="0"/>
            <a:chExt cx="3407648" cy="2283536"/>
          </a:xfrm>
        </p:grpSpPr>
        <p:sp>
          <p:nvSpPr>
            <p:cNvPr name="TextBox 34" id="34"/>
            <p:cNvSpPr txBox="true"/>
            <p:nvPr/>
          </p:nvSpPr>
          <p:spPr>
            <a:xfrm rot="0">
              <a:off x="0" y="757842"/>
              <a:ext cx="3407648" cy="1525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 spc="32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Interpret the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 spc="32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results and write your conclusion.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0" y="-28575"/>
              <a:ext cx="3407648" cy="55604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80"/>
                </a:lnSpc>
              </a:pPr>
              <a:r>
                <a:rPr lang="en-US" b="true" sz="2600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CONCLUSION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535946" y="1028700"/>
            <a:ext cx="11216108" cy="1160318"/>
            <a:chOff x="0" y="0"/>
            <a:chExt cx="14954810" cy="1547090"/>
          </a:xfrm>
        </p:grpSpPr>
        <p:sp>
          <p:nvSpPr>
            <p:cNvPr name="TextBox 37" id="37"/>
            <p:cNvSpPr txBox="true"/>
            <p:nvPr/>
          </p:nvSpPr>
          <p:spPr>
            <a:xfrm rot="0">
              <a:off x="0" y="-38100"/>
              <a:ext cx="14954810" cy="7645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680"/>
                </a:lnSpc>
              </a:pPr>
              <a:r>
                <a:rPr lang="en-US" b="true" sz="3600" u="none">
                  <a:solidFill>
                    <a:srgbClr val="000000"/>
                  </a:solidFill>
                  <a:latin typeface="Aileron Bold"/>
                  <a:ea typeface="Aileron Bold"/>
                  <a:cs typeface="Aileron Bold"/>
                  <a:sym typeface="Aileron Bold"/>
                </a:rPr>
                <a:t>The Stages of Research</a:t>
              </a:r>
            </a:p>
          </p:txBody>
        </p:sp>
        <p:sp>
          <p:nvSpPr>
            <p:cNvPr name="TextBox 38" id="38"/>
            <p:cNvSpPr txBox="true"/>
            <p:nvPr/>
          </p:nvSpPr>
          <p:spPr>
            <a:xfrm rot="0">
              <a:off x="0" y="968393"/>
              <a:ext cx="14954810" cy="5786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640"/>
                </a:lnSpc>
              </a:pPr>
              <a:r>
                <a:rPr lang="en-US" sz="2600" spc="38" u="none">
                  <a:solidFill>
                    <a:srgbClr val="000000"/>
                  </a:solidFill>
                  <a:latin typeface="Aileron"/>
                  <a:ea typeface="Aileron"/>
                  <a:cs typeface="Aileron"/>
                  <a:sym typeface="Aileron"/>
                </a:rPr>
                <a:t>Miss Jones Science Class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DAHJayOk74Q</dc:identifier>
  <dcterms:modified xsi:type="dcterms:W3CDTF">2011-08-01T06:04:30Z</dcterms:modified>
  <cp:revision>1</cp:revision>
  <dc:title>Modern Lead Generation on Digital Marketing Infographic Presentation</dc:title>
</cp:coreProperties>
</file>